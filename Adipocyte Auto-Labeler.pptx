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2" r:id="rId7"/>
    <p:sldId id="261" r:id="rId8"/>
    <p:sldId id="263" r:id="rId9"/>
    <p:sldId id="264" r:id="rId10"/>
    <p:sldId id="265" r:id="rId11"/>
    <p:sldId id="268" r:id="rId12"/>
    <p:sldId id="266" r:id="rId13"/>
    <p:sldId id="269" r:id="rId14"/>
    <p:sldId id="270" r:id="rId15"/>
    <p:sldId id="271"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B6C13-C182-423C-8904-8EEB7EDAAA2F}"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436045-B68B-4DDB-B491-694D8F4D1496}" type="slidenum">
              <a:rPr lang="en-US" smtClean="0"/>
              <a:t>‹#›</a:t>
            </a:fld>
            <a:endParaRPr lang="en-US"/>
          </a:p>
        </p:txBody>
      </p:sp>
    </p:spTree>
    <p:extLst>
      <p:ext uri="{BB962C8B-B14F-4D97-AF65-F5344CB8AC3E}">
        <p14:creationId xmlns:p14="http://schemas.microsoft.com/office/powerpoint/2010/main" val="1879572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436045-B68B-4DDB-B491-694D8F4D1496}" type="slidenum">
              <a:rPr lang="en-US" smtClean="0"/>
              <a:t>4</a:t>
            </a:fld>
            <a:endParaRPr lang="en-US"/>
          </a:p>
        </p:txBody>
      </p:sp>
    </p:spTree>
    <p:extLst>
      <p:ext uri="{BB962C8B-B14F-4D97-AF65-F5344CB8AC3E}">
        <p14:creationId xmlns:p14="http://schemas.microsoft.com/office/powerpoint/2010/main" val="52147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D22AF-BDFB-CDF2-D794-81BF6CD17A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31BE12-1628-857D-77B1-050487F7F5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DFC02D-C6E9-B2C5-A574-F120A12C1E91}"/>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5" name="Footer Placeholder 4">
            <a:extLst>
              <a:ext uri="{FF2B5EF4-FFF2-40B4-BE49-F238E27FC236}">
                <a16:creationId xmlns:a16="http://schemas.microsoft.com/office/drawing/2014/main" id="{8F2422C2-A951-15BE-25AD-66F201809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1C873-8216-EACE-BA79-4EAD89681B08}"/>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1256979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906AC-6DEB-CA73-96C9-8354431F49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2DA07-4361-9B26-D150-151BC6A879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8208CF-3C2E-C6BD-8F8B-A45A8B16BF5F}"/>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5" name="Footer Placeholder 4">
            <a:extLst>
              <a:ext uri="{FF2B5EF4-FFF2-40B4-BE49-F238E27FC236}">
                <a16:creationId xmlns:a16="http://schemas.microsoft.com/office/drawing/2014/main" id="{3D282B4D-BD3E-098C-00E1-ADE3F8AA1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18D84A-4B15-A857-50A7-2FE46DDADFED}"/>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2577442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3F1A-ADDA-31E8-C1A7-CC9D58B353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5C2C07-4874-144A-4E23-CF7608EBBF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E2A2DB-A2B2-9823-A715-B932A1CF4E9B}"/>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5" name="Footer Placeholder 4">
            <a:extLst>
              <a:ext uri="{FF2B5EF4-FFF2-40B4-BE49-F238E27FC236}">
                <a16:creationId xmlns:a16="http://schemas.microsoft.com/office/drawing/2014/main" id="{392069EE-93D4-A84C-4EE8-CA3581755C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0C6153-048D-6996-50D9-D05A0A82C7FB}"/>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2556136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E086B-660D-17C3-B595-0C4427F4CC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CBE623-5289-906C-908A-86B3561C47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069EA9-F3A8-65B0-82E8-E494C4A733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867C42-69FD-B3D9-7508-9C3A22AB13E9}"/>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6" name="Footer Placeholder 5">
            <a:extLst>
              <a:ext uri="{FF2B5EF4-FFF2-40B4-BE49-F238E27FC236}">
                <a16:creationId xmlns:a16="http://schemas.microsoft.com/office/drawing/2014/main" id="{EAD5A59D-9810-5161-9D4E-D62580C69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EF7C44-6236-6371-15D9-7D709E5C83A5}"/>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366589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8E8-ACD7-FD23-6025-9BA0FB618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195B57-9AA6-8D9A-9A60-A19A50C65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B7EC2B-3431-3F40-14FB-5A0CD7CB2B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2165B1-B156-D308-1B3A-18C5CB3D9F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789BD5-8256-C59A-0BBD-0805160415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BC099C-D6C6-E73A-5D36-71CB6149C238}"/>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8" name="Footer Placeholder 7">
            <a:extLst>
              <a:ext uri="{FF2B5EF4-FFF2-40B4-BE49-F238E27FC236}">
                <a16:creationId xmlns:a16="http://schemas.microsoft.com/office/drawing/2014/main" id="{D03EB584-3D7A-FCB2-CE1A-AF30A7A4FB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7D8381-4305-2391-4A81-FBC51715822E}"/>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2793456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2E0D-0985-D2CA-2272-E3D731D48D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3A811C-58CA-F0F3-2DC8-E87249667C11}"/>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4" name="Footer Placeholder 3">
            <a:extLst>
              <a:ext uri="{FF2B5EF4-FFF2-40B4-BE49-F238E27FC236}">
                <a16:creationId xmlns:a16="http://schemas.microsoft.com/office/drawing/2014/main" id="{DAEB7834-9FB9-7971-B6B2-0965EDED04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5690C5-5287-3DF7-15C9-00A463C00E52}"/>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2730560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622EF6-4C7F-2469-13E8-29D8813DA669}"/>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3" name="Footer Placeholder 2">
            <a:extLst>
              <a:ext uri="{FF2B5EF4-FFF2-40B4-BE49-F238E27FC236}">
                <a16:creationId xmlns:a16="http://schemas.microsoft.com/office/drawing/2014/main" id="{F4A8E018-4636-4A53-89CE-FF36F7F4E5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043D38-7F37-70F6-8245-3292B78602EF}"/>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507156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29A1-EAF8-E501-3969-935751CABF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E980A39-2B3F-38C2-9BE6-835F4111A1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0218C0-6AFF-25F1-92D8-3DD77CADC6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1ABBDF-6B26-D06A-56B4-4BA70DA126FC}"/>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6" name="Footer Placeholder 5">
            <a:extLst>
              <a:ext uri="{FF2B5EF4-FFF2-40B4-BE49-F238E27FC236}">
                <a16:creationId xmlns:a16="http://schemas.microsoft.com/office/drawing/2014/main" id="{7DFCE962-E544-CC4B-6FFC-1787543455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A86CE-2CC0-F8B0-A212-AF878F62220E}"/>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359600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4D701-18D6-8A00-E6B2-C8C5C14AE9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71A91D-A726-C126-EB31-D5BA07E370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F7F47E-CF41-0FD8-0070-6ACB5978BA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1BEE8-FD27-99C4-7752-9C683F316FB0}"/>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6" name="Footer Placeholder 5">
            <a:extLst>
              <a:ext uri="{FF2B5EF4-FFF2-40B4-BE49-F238E27FC236}">
                <a16:creationId xmlns:a16="http://schemas.microsoft.com/office/drawing/2014/main" id="{4FA0C696-8024-40FD-58CE-82CD36E26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4E9A9E-A36D-3731-66BE-2BEC4FE79D06}"/>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2597997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920A-EAAD-0A70-B1EC-BC0DE60887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AFAE75-8446-F37D-5AB5-155DCACB4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D93670-19BA-5741-3816-A26DB94C2785}"/>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5" name="Footer Placeholder 4">
            <a:extLst>
              <a:ext uri="{FF2B5EF4-FFF2-40B4-BE49-F238E27FC236}">
                <a16:creationId xmlns:a16="http://schemas.microsoft.com/office/drawing/2014/main" id="{AB322E01-EEF8-8159-1ADE-55D1B0F9E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1E7A5E-6F02-2088-16FE-985ECD7DCFDE}"/>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1566564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3DE110-03FB-3EBA-2C40-45B1661F1E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F7C678-C014-6899-5027-63763862EA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CFE591-DAA0-8C73-71A1-4C1158437221}"/>
              </a:ext>
            </a:extLst>
          </p:cNvPr>
          <p:cNvSpPr>
            <a:spLocks noGrp="1"/>
          </p:cNvSpPr>
          <p:nvPr>
            <p:ph type="dt" sz="half" idx="10"/>
          </p:nvPr>
        </p:nvSpPr>
        <p:spPr/>
        <p:txBody>
          <a:bodyPr/>
          <a:lstStyle/>
          <a:p>
            <a:fld id="{18B30A06-2F1B-4D65-BAF6-9EA6A4CEE498}" type="datetimeFigureOut">
              <a:rPr lang="en-US" smtClean="0"/>
              <a:t>3/15/2025</a:t>
            </a:fld>
            <a:endParaRPr lang="en-US"/>
          </a:p>
        </p:txBody>
      </p:sp>
      <p:sp>
        <p:nvSpPr>
          <p:cNvPr id="5" name="Footer Placeholder 4">
            <a:extLst>
              <a:ext uri="{FF2B5EF4-FFF2-40B4-BE49-F238E27FC236}">
                <a16:creationId xmlns:a16="http://schemas.microsoft.com/office/drawing/2014/main" id="{B12A5B4F-A467-4791-BD34-6157C17609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4AA036-3247-11DD-642E-EA710D70E711}"/>
              </a:ext>
            </a:extLst>
          </p:cNvPr>
          <p:cNvSpPr>
            <a:spLocks noGrp="1"/>
          </p:cNvSpPr>
          <p:nvPr>
            <p:ph type="sldNum" sz="quarter" idx="12"/>
          </p:nvPr>
        </p:nvSpPr>
        <p:spPr/>
        <p:txBody>
          <a:bodyPr/>
          <a:lstStyle/>
          <a:p>
            <a:fld id="{1D8111F7-F664-4D7F-8DFE-44F28474DE11}" type="slidenum">
              <a:rPr lang="en-US" smtClean="0"/>
              <a:t>‹#›</a:t>
            </a:fld>
            <a:endParaRPr lang="en-US"/>
          </a:p>
        </p:txBody>
      </p:sp>
    </p:spTree>
    <p:extLst>
      <p:ext uri="{BB962C8B-B14F-4D97-AF65-F5344CB8AC3E}">
        <p14:creationId xmlns:p14="http://schemas.microsoft.com/office/powerpoint/2010/main" val="407212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DA7255-B1BA-0CC7-D557-721100195A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954C71-D273-9CFA-F2D1-8521DDCD4D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ECB2E9-8026-EADB-8052-CF6295164E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B30A06-2F1B-4D65-BAF6-9EA6A4CEE498}" type="datetimeFigureOut">
              <a:rPr lang="en-US" smtClean="0"/>
              <a:t>3/15/2025</a:t>
            </a:fld>
            <a:endParaRPr lang="en-US"/>
          </a:p>
        </p:txBody>
      </p:sp>
      <p:sp>
        <p:nvSpPr>
          <p:cNvPr id="5" name="Footer Placeholder 4">
            <a:extLst>
              <a:ext uri="{FF2B5EF4-FFF2-40B4-BE49-F238E27FC236}">
                <a16:creationId xmlns:a16="http://schemas.microsoft.com/office/drawing/2014/main" id="{7EC999F6-FF4E-348D-316B-749D7C8547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6CCA2E-8EE1-5B11-A11E-F5F4A5CD3A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8111F7-F664-4D7F-8DFE-44F28474DE11}" type="slidenum">
              <a:rPr lang="en-US" smtClean="0"/>
              <a:t>‹#›</a:t>
            </a:fld>
            <a:endParaRPr lang="en-US"/>
          </a:p>
        </p:txBody>
      </p:sp>
    </p:spTree>
    <p:extLst>
      <p:ext uri="{BB962C8B-B14F-4D97-AF65-F5344CB8AC3E}">
        <p14:creationId xmlns:p14="http://schemas.microsoft.com/office/powerpoint/2010/main" val="2520610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python.org/downloads/release/python-3129/"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kylerHeininger/imagej_adipocyte_labeler"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skyler.heininger@uvm.edu"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mailto:skyler.heininger@uvm.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8403-8419-7F07-F798-9248B1250001}"/>
              </a:ext>
            </a:extLst>
          </p:cNvPr>
          <p:cNvSpPr>
            <a:spLocks noGrp="1"/>
          </p:cNvSpPr>
          <p:nvPr>
            <p:ph type="ctrTitle"/>
          </p:nvPr>
        </p:nvSpPr>
        <p:spPr/>
        <p:txBody>
          <a:bodyPr/>
          <a:lstStyle/>
          <a:p>
            <a:r>
              <a:rPr lang="en-US" dirty="0"/>
              <a:t>Adipocyte Auto-Labeler</a:t>
            </a:r>
          </a:p>
        </p:txBody>
      </p:sp>
      <p:sp>
        <p:nvSpPr>
          <p:cNvPr id="3" name="Subtitle 2">
            <a:extLst>
              <a:ext uri="{FF2B5EF4-FFF2-40B4-BE49-F238E27FC236}">
                <a16:creationId xmlns:a16="http://schemas.microsoft.com/office/drawing/2014/main" id="{180A8625-34CD-34F7-E2A1-3602FC53EFAC}"/>
              </a:ext>
            </a:extLst>
          </p:cNvPr>
          <p:cNvSpPr>
            <a:spLocks noGrp="1"/>
          </p:cNvSpPr>
          <p:nvPr>
            <p:ph type="subTitle" idx="1"/>
          </p:nvPr>
        </p:nvSpPr>
        <p:spPr/>
        <p:txBody>
          <a:bodyPr/>
          <a:lstStyle/>
          <a:p>
            <a:r>
              <a:rPr lang="en-US" dirty="0"/>
              <a:t>Skyler Heininger, 03/15/2025</a:t>
            </a:r>
          </a:p>
        </p:txBody>
      </p:sp>
    </p:spTree>
    <p:extLst>
      <p:ext uri="{BB962C8B-B14F-4D97-AF65-F5344CB8AC3E}">
        <p14:creationId xmlns:p14="http://schemas.microsoft.com/office/powerpoint/2010/main" val="3658686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E8100D-1929-89AF-EADD-374315AB388F}"/>
              </a:ext>
            </a:extLst>
          </p:cNvPr>
          <p:cNvSpPr>
            <a:spLocks noGrp="1"/>
          </p:cNvSpPr>
          <p:nvPr>
            <p:ph type="title"/>
          </p:nvPr>
        </p:nvSpPr>
        <p:spPr>
          <a:xfrm>
            <a:off x="831850" y="1709738"/>
            <a:ext cx="10515600" cy="2852737"/>
          </a:xfrm>
        </p:spPr>
        <p:txBody>
          <a:bodyPr/>
          <a:lstStyle/>
          <a:p>
            <a:r>
              <a:rPr lang="en-US" dirty="0"/>
              <a:t>1. Download </a:t>
            </a:r>
          </a:p>
        </p:txBody>
      </p:sp>
    </p:spTree>
    <p:extLst>
      <p:ext uri="{BB962C8B-B14F-4D97-AF65-F5344CB8AC3E}">
        <p14:creationId xmlns:p14="http://schemas.microsoft.com/office/powerpoint/2010/main" val="2267450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9CF4-F915-2BEB-FA3B-B11A17D96195}"/>
              </a:ext>
            </a:extLst>
          </p:cNvPr>
          <p:cNvSpPr>
            <a:spLocks noGrp="1"/>
          </p:cNvSpPr>
          <p:nvPr>
            <p:ph type="title"/>
          </p:nvPr>
        </p:nvSpPr>
        <p:spPr/>
        <p:txBody>
          <a:bodyPr/>
          <a:lstStyle/>
          <a:p>
            <a:r>
              <a:rPr lang="en-US" dirty="0"/>
              <a:t>Python Download</a:t>
            </a:r>
          </a:p>
        </p:txBody>
      </p:sp>
      <p:sp>
        <p:nvSpPr>
          <p:cNvPr id="3" name="Content Placeholder 2">
            <a:extLst>
              <a:ext uri="{FF2B5EF4-FFF2-40B4-BE49-F238E27FC236}">
                <a16:creationId xmlns:a16="http://schemas.microsoft.com/office/drawing/2014/main" id="{D87B34CE-AB5D-41C4-7C20-536790BD22E5}"/>
              </a:ext>
            </a:extLst>
          </p:cNvPr>
          <p:cNvSpPr>
            <a:spLocks noGrp="1"/>
          </p:cNvSpPr>
          <p:nvPr>
            <p:ph idx="1"/>
          </p:nvPr>
        </p:nvSpPr>
        <p:spPr>
          <a:xfrm>
            <a:off x="838200" y="1509508"/>
            <a:ext cx="10515600" cy="5348492"/>
          </a:xfrm>
        </p:spPr>
        <p:txBody>
          <a:bodyPr>
            <a:normAutofit/>
          </a:bodyPr>
          <a:lstStyle/>
          <a:p>
            <a:r>
              <a:rPr lang="en-US" dirty="0"/>
              <a:t>The plugin uses a model that requires newer code and packages than ImageJ supports. </a:t>
            </a:r>
          </a:p>
          <a:p>
            <a:r>
              <a:rPr lang="en-US" dirty="0"/>
              <a:t>Download python 3.12.9 from here: </a:t>
            </a:r>
            <a:r>
              <a:rPr lang="en-US" dirty="0">
                <a:hlinkClick r:id="rId2"/>
              </a:rPr>
              <a:t>Python Release Python 3.12.9 | Python.org</a:t>
            </a:r>
            <a:endParaRPr lang="en-US" dirty="0"/>
          </a:p>
          <a:p>
            <a:r>
              <a:rPr lang="en-US" dirty="0"/>
              <a:t>To verify download and your computer recognizes it, open the command prompt application and type “python --version”</a:t>
            </a:r>
          </a:p>
          <a:p>
            <a:pPr lvl="1"/>
            <a:r>
              <a:rPr lang="en-US" dirty="0"/>
              <a:t>This should print the python version, meaning you can run/use python! Feel free to close command prompt, we will not be needing this any longer.</a:t>
            </a:r>
          </a:p>
          <a:p>
            <a:pPr lvl="1"/>
            <a:endParaRPr lang="en-US" dirty="0"/>
          </a:p>
          <a:p>
            <a:pPr lvl="1"/>
            <a:r>
              <a:rPr lang="en-US" dirty="0"/>
              <a:t>If Python is not recognized, you will need to consult online resources: You will likely have to set the PATH variable in your computers system (on Windows)</a:t>
            </a:r>
          </a:p>
        </p:txBody>
      </p:sp>
      <p:pic>
        <p:nvPicPr>
          <p:cNvPr id="7" name="Picture 6">
            <a:extLst>
              <a:ext uri="{FF2B5EF4-FFF2-40B4-BE49-F238E27FC236}">
                <a16:creationId xmlns:a16="http://schemas.microsoft.com/office/drawing/2014/main" id="{FF10505F-1BB7-540C-A5D1-032B6FE2853C}"/>
              </a:ext>
            </a:extLst>
          </p:cNvPr>
          <p:cNvPicPr>
            <a:picLocks noChangeAspect="1"/>
          </p:cNvPicPr>
          <p:nvPr/>
        </p:nvPicPr>
        <p:blipFill>
          <a:blip r:embed="rId3"/>
          <a:stretch>
            <a:fillRect/>
          </a:stretch>
        </p:blipFill>
        <p:spPr>
          <a:xfrm>
            <a:off x="3839345" y="4836125"/>
            <a:ext cx="5213383" cy="763576"/>
          </a:xfrm>
          <a:prstGeom prst="rect">
            <a:avLst/>
          </a:prstGeom>
        </p:spPr>
      </p:pic>
    </p:spTree>
    <p:extLst>
      <p:ext uri="{BB962C8B-B14F-4D97-AF65-F5344CB8AC3E}">
        <p14:creationId xmlns:p14="http://schemas.microsoft.com/office/powerpoint/2010/main" val="2231186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C032-E4EF-7C20-2EE3-DA39A320934D}"/>
              </a:ext>
            </a:extLst>
          </p:cNvPr>
          <p:cNvSpPr>
            <a:spLocks noGrp="1"/>
          </p:cNvSpPr>
          <p:nvPr>
            <p:ph type="title"/>
          </p:nvPr>
        </p:nvSpPr>
        <p:spPr/>
        <p:txBody>
          <a:bodyPr/>
          <a:lstStyle/>
          <a:p>
            <a:r>
              <a:rPr lang="en-US" dirty="0"/>
              <a:t>Download files from GitHub</a:t>
            </a:r>
          </a:p>
        </p:txBody>
      </p:sp>
      <p:sp>
        <p:nvSpPr>
          <p:cNvPr id="3" name="Content Placeholder 2">
            <a:extLst>
              <a:ext uri="{FF2B5EF4-FFF2-40B4-BE49-F238E27FC236}">
                <a16:creationId xmlns:a16="http://schemas.microsoft.com/office/drawing/2014/main" id="{9FEE5DDF-766C-B514-C12F-0FB045A324A3}"/>
              </a:ext>
            </a:extLst>
          </p:cNvPr>
          <p:cNvSpPr>
            <a:spLocks noGrp="1"/>
          </p:cNvSpPr>
          <p:nvPr>
            <p:ph idx="1"/>
          </p:nvPr>
        </p:nvSpPr>
        <p:spPr/>
        <p:txBody>
          <a:bodyPr/>
          <a:lstStyle/>
          <a:p>
            <a:r>
              <a:rPr lang="en-US" dirty="0"/>
              <a:t>Download and unzip the imagej_adipocyte_labeler.zip. This contains all the necessary source code files for the tool.</a:t>
            </a:r>
          </a:p>
          <a:p>
            <a:pPr lvl="1"/>
            <a:r>
              <a:rPr lang="en-US" dirty="0" err="1">
                <a:hlinkClick r:id="rId3"/>
              </a:rPr>
              <a:t>SkylerHeininger</a:t>
            </a:r>
            <a:r>
              <a:rPr lang="en-US" dirty="0">
                <a:hlinkClick r:id="rId3"/>
              </a:rPr>
              <a:t>/</a:t>
            </a:r>
            <a:r>
              <a:rPr lang="en-US" dirty="0" err="1">
                <a:hlinkClick r:id="rId3"/>
              </a:rPr>
              <a:t>imagej_adipocyte_labeler</a:t>
            </a:r>
            <a:endParaRPr lang="en-US" dirty="0"/>
          </a:p>
          <a:p>
            <a:pPr lvl="1"/>
            <a:r>
              <a:rPr lang="en-US" dirty="0"/>
              <a:t>This does not contain the model, which is too large to be stored de-compressed on GitHub. Reach out to me at </a:t>
            </a:r>
            <a:r>
              <a:rPr lang="en-US" dirty="0">
                <a:hlinkClick r:id="rId4"/>
              </a:rPr>
              <a:t>skyler.heininger@uvm.edu</a:t>
            </a:r>
            <a:r>
              <a:rPr lang="en-US" dirty="0"/>
              <a:t> and I can send the model and the zip file through the UVM file transfer system.</a:t>
            </a:r>
          </a:p>
        </p:txBody>
      </p:sp>
    </p:spTree>
    <p:extLst>
      <p:ext uri="{BB962C8B-B14F-4D97-AF65-F5344CB8AC3E}">
        <p14:creationId xmlns:p14="http://schemas.microsoft.com/office/powerpoint/2010/main" val="3426858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1C14-9F45-BCE1-43B5-7CF35B546C2F}"/>
              </a:ext>
            </a:extLst>
          </p:cNvPr>
          <p:cNvSpPr>
            <a:spLocks noGrp="1"/>
          </p:cNvSpPr>
          <p:nvPr>
            <p:ph type="title"/>
          </p:nvPr>
        </p:nvSpPr>
        <p:spPr/>
        <p:txBody>
          <a:bodyPr/>
          <a:lstStyle/>
          <a:p>
            <a:r>
              <a:rPr lang="en-US" dirty="0"/>
              <a:t>Moving files</a:t>
            </a:r>
          </a:p>
        </p:txBody>
      </p:sp>
      <p:sp>
        <p:nvSpPr>
          <p:cNvPr id="3" name="Content Placeholder 2">
            <a:extLst>
              <a:ext uri="{FF2B5EF4-FFF2-40B4-BE49-F238E27FC236}">
                <a16:creationId xmlns:a16="http://schemas.microsoft.com/office/drawing/2014/main" id="{BDA86B95-0DAE-77BB-3851-5A55475A5E14}"/>
              </a:ext>
            </a:extLst>
          </p:cNvPr>
          <p:cNvSpPr>
            <a:spLocks noGrp="1"/>
          </p:cNvSpPr>
          <p:nvPr>
            <p:ph idx="1"/>
          </p:nvPr>
        </p:nvSpPr>
        <p:spPr/>
        <p:txBody>
          <a:bodyPr/>
          <a:lstStyle/>
          <a:p>
            <a:r>
              <a:rPr lang="en-US" dirty="0"/>
              <a:t>Move all files to your ImageJ folder. </a:t>
            </a:r>
          </a:p>
          <a:p>
            <a:pPr lvl="1"/>
            <a:r>
              <a:rPr lang="en-US" dirty="0"/>
              <a:t>The utils folder must be in the same folder as the ImageJ executable. </a:t>
            </a:r>
          </a:p>
          <a:p>
            <a:pPr lvl="1"/>
            <a:r>
              <a:rPr lang="en-US" dirty="0"/>
              <a:t>The Auto_Label.java and </a:t>
            </a:r>
            <a:r>
              <a:rPr lang="en-US" dirty="0" err="1"/>
              <a:t>AutoLabelMacro.ijm</a:t>
            </a:r>
            <a:r>
              <a:rPr lang="en-US" dirty="0"/>
              <a:t> files can be anywhere you prefer, just remember where you keep them.</a:t>
            </a:r>
          </a:p>
        </p:txBody>
      </p:sp>
      <p:pic>
        <p:nvPicPr>
          <p:cNvPr id="5" name="Picture 4">
            <a:extLst>
              <a:ext uri="{FF2B5EF4-FFF2-40B4-BE49-F238E27FC236}">
                <a16:creationId xmlns:a16="http://schemas.microsoft.com/office/drawing/2014/main" id="{D413D76F-C6A1-B5B8-F5D3-018F85D6E66D}"/>
              </a:ext>
            </a:extLst>
          </p:cNvPr>
          <p:cNvPicPr>
            <a:picLocks noChangeAspect="1"/>
          </p:cNvPicPr>
          <p:nvPr/>
        </p:nvPicPr>
        <p:blipFill>
          <a:blip r:embed="rId2"/>
          <a:stretch>
            <a:fillRect/>
          </a:stretch>
        </p:blipFill>
        <p:spPr>
          <a:xfrm>
            <a:off x="715814" y="3797082"/>
            <a:ext cx="10760372" cy="2514818"/>
          </a:xfrm>
          <a:prstGeom prst="rect">
            <a:avLst/>
          </a:prstGeom>
        </p:spPr>
      </p:pic>
    </p:spTree>
    <p:extLst>
      <p:ext uri="{BB962C8B-B14F-4D97-AF65-F5344CB8AC3E}">
        <p14:creationId xmlns:p14="http://schemas.microsoft.com/office/powerpoint/2010/main" val="1593239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F0D44-0829-091A-64DF-FA00B2329EE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A7CB748-7CFA-C4A5-9AF2-D299CAB64E83}"/>
              </a:ext>
            </a:extLst>
          </p:cNvPr>
          <p:cNvSpPr>
            <a:spLocks noGrp="1"/>
          </p:cNvSpPr>
          <p:nvPr>
            <p:ph type="title"/>
          </p:nvPr>
        </p:nvSpPr>
        <p:spPr>
          <a:xfrm>
            <a:off x="831850" y="1709738"/>
            <a:ext cx="10515600" cy="2852737"/>
          </a:xfrm>
        </p:spPr>
        <p:txBody>
          <a:bodyPr/>
          <a:lstStyle/>
          <a:p>
            <a:r>
              <a:rPr lang="en-US" dirty="0"/>
              <a:t>2. Installation </a:t>
            </a:r>
          </a:p>
        </p:txBody>
      </p:sp>
    </p:spTree>
    <p:extLst>
      <p:ext uri="{BB962C8B-B14F-4D97-AF65-F5344CB8AC3E}">
        <p14:creationId xmlns:p14="http://schemas.microsoft.com/office/powerpoint/2010/main" val="2116821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0FE3-EDEC-3E16-87A6-439C555143C3}"/>
              </a:ext>
            </a:extLst>
          </p:cNvPr>
          <p:cNvSpPr>
            <a:spLocks noGrp="1"/>
          </p:cNvSpPr>
          <p:nvPr>
            <p:ph type="title"/>
          </p:nvPr>
        </p:nvSpPr>
        <p:spPr>
          <a:xfrm>
            <a:off x="248265" y="0"/>
            <a:ext cx="10515600" cy="1325563"/>
          </a:xfrm>
        </p:spPr>
        <p:txBody>
          <a:bodyPr/>
          <a:lstStyle/>
          <a:p>
            <a:r>
              <a:rPr lang="en-US" dirty="0"/>
              <a:t>Preparing for Installation</a:t>
            </a:r>
          </a:p>
        </p:txBody>
      </p:sp>
      <p:sp>
        <p:nvSpPr>
          <p:cNvPr id="3" name="Content Placeholder 2">
            <a:extLst>
              <a:ext uri="{FF2B5EF4-FFF2-40B4-BE49-F238E27FC236}">
                <a16:creationId xmlns:a16="http://schemas.microsoft.com/office/drawing/2014/main" id="{FBB3F142-250A-9A23-71A8-F4CDF838C9F5}"/>
              </a:ext>
            </a:extLst>
          </p:cNvPr>
          <p:cNvSpPr>
            <a:spLocks noGrp="1"/>
          </p:cNvSpPr>
          <p:nvPr>
            <p:ph idx="1"/>
          </p:nvPr>
        </p:nvSpPr>
        <p:spPr>
          <a:xfrm>
            <a:off x="5361038" y="1105847"/>
            <a:ext cx="5769077" cy="4351338"/>
          </a:xfrm>
        </p:spPr>
        <p:txBody>
          <a:bodyPr/>
          <a:lstStyle/>
          <a:p>
            <a:r>
              <a:rPr lang="en-US" dirty="0"/>
              <a:t>Open ImageJ and enable debug mode</a:t>
            </a:r>
          </a:p>
          <a:p>
            <a:pPr lvl="1"/>
            <a:r>
              <a:rPr lang="en-US" dirty="0"/>
              <a:t>Debug mode is found through Edit&gt;Options&gt;Misc…&gt;Debug Mode</a:t>
            </a:r>
          </a:p>
          <a:p>
            <a:pPr lvl="1"/>
            <a:r>
              <a:rPr lang="en-US" dirty="0"/>
              <a:t>This allows us to see what the plugin is doing. </a:t>
            </a:r>
          </a:p>
        </p:txBody>
      </p:sp>
      <p:pic>
        <p:nvPicPr>
          <p:cNvPr id="5" name="Picture 4">
            <a:extLst>
              <a:ext uri="{FF2B5EF4-FFF2-40B4-BE49-F238E27FC236}">
                <a16:creationId xmlns:a16="http://schemas.microsoft.com/office/drawing/2014/main" id="{A809D34B-FAB5-4B7B-AA7F-53AF4715867C}"/>
              </a:ext>
            </a:extLst>
          </p:cNvPr>
          <p:cNvPicPr>
            <a:picLocks noChangeAspect="1"/>
          </p:cNvPicPr>
          <p:nvPr/>
        </p:nvPicPr>
        <p:blipFill>
          <a:blip r:embed="rId2"/>
          <a:stretch>
            <a:fillRect/>
          </a:stretch>
        </p:blipFill>
        <p:spPr>
          <a:xfrm>
            <a:off x="518517" y="1022555"/>
            <a:ext cx="4316630" cy="5835445"/>
          </a:xfrm>
          <a:prstGeom prst="rect">
            <a:avLst/>
          </a:prstGeom>
        </p:spPr>
      </p:pic>
      <p:pic>
        <p:nvPicPr>
          <p:cNvPr id="7" name="Picture 6">
            <a:extLst>
              <a:ext uri="{FF2B5EF4-FFF2-40B4-BE49-F238E27FC236}">
                <a16:creationId xmlns:a16="http://schemas.microsoft.com/office/drawing/2014/main" id="{016D0B37-7348-52A0-AF08-C78282C01C3B}"/>
              </a:ext>
            </a:extLst>
          </p:cNvPr>
          <p:cNvPicPr>
            <a:picLocks noChangeAspect="1"/>
          </p:cNvPicPr>
          <p:nvPr/>
        </p:nvPicPr>
        <p:blipFill>
          <a:blip r:embed="rId3"/>
          <a:stretch>
            <a:fillRect/>
          </a:stretch>
        </p:blipFill>
        <p:spPr>
          <a:xfrm>
            <a:off x="9665884" y="3527323"/>
            <a:ext cx="2408129" cy="3215919"/>
          </a:xfrm>
          <a:prstGeom prst="rect">
            <a:avLst/>
          </a:prstGeom>
        </p:spPr>
      </p:pic>
      <p:sp>
        <p:nvSpPr>
          <p:cNvPr id="8" name="TextBox 7">
            <a:extLst>
              <a:ext uri="{FF2B5EF4-FFF2-40B4-BE49-F238E27FC236}">
                <a16:creationId xmlns:a16="http://schemas.microsoft.com/office/drawing/2014/main" id="{44D90A23-7465-8B88-07AF-C74DBFB6127B}"/>
              </a:ext>
            </a:extLst>
          </p:cNvPr>
          <p:cNvSpPr txBox="1"/>
          <p:nvPr/>
        </p:nvSpPr>
        <p:spPr>
          <a:xfrm>
            <a:off x="5279923" y="3795252"/>
            <a:ext cx="4237703" cy="1754326"/>
          </a:xfrm>
          <a:prstGeom prst="rect">
            <a:avLst/>
          </a:prstGeom>
          <a:noFill/>
        </p:spPr>
        <p:txBody>
          <a:bodyPr wrap="square" rtlCol="0">
            <a:spAutoFit/>
          </a:bodyPr>
          <a:lstStyle/>
          <a:p>
            <a:r>
              <a:rPr lang="en-US" dirty="0"/>
              <a:t>If you ever close the log window that pops up, you will have to re-open it if you would like to see what the script is doing. After installation is complete and the tool works, this is optional.</a:t>
            </a:r>
          </a:p>
          <a:p>
            <a:endParaRPr lang="en-US" dirty="0"/>
          </a:p>
        </p:txBody>
      </p:sp>
    </p:spTree>
    <p:extLst>
      <p:ext uri="{BB962C8B-B14F-4D97-AF65-F5344CB8AC3E}">
        <p14:creationId xmlns:p14="http://schemas.microsoft.com/office/powerpoint/2010/main" val="3408743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B0CD-F4F5-7C7A-E45B-7CC1FD9F7924}"/>
              </a:ext>
            </a:extLst>
          </p:cNvPr>
          <p:cNvSpPr>
            <a:spLocks noGrp="1"/>
          </p:cNvSpPr>
          <p:nvPr>
            <p:ph type="title"/>
          </p:nvPr>
        </p:nvSpPr>
        <p:spPr/>
        <p:txBody>
          <a:bodyPr/>
          <a:lstStyle/>
          <a:p>
            <a:r>
              <a:rPr lang="en-US" dirty="0"/>
              <a:t>Installing Plugin</a:t>
            </a:r>
          </a:p>
        </p:txBody>
      </p:sp>
      <p:sp>
        <p:nvSpPr>
          <p:cNvPr id="3" name="Content Placeholder 2">
            <a:extLst>
              <a:ext uri="{FF2B5EF4-FFF2-40B4-BE49-F238E27FC236}">
                <a16:creationId xmlns:a16="http://schemas.microsoft.com/office/drawing/2014/main" id="{01656D05-C8F5-5DAA-5BF9-33DFD91239E4}"/>
              </a:ext>
            </a:extLst>
          </p:cNvPr>
          <p:cNvSpPr>
            <a:spLocks noGrp="1"/>
          </p:cNvSpPr>
          <p:nvPr>
            <p:ph idx="1"/>
          </p:nvPr>
        </p:nvSpPr>
        <p:spPr>
          <a:xfrm>
            <a:off x="739878" y="1690688"/>
            <a:ext cx="6083710" cy="4351338"/>
          </a:xfrm>
        </p:spPr>
        <p:txBody>
          <a:bodyPr/>
          <a:lstStyle/>
          <a:p>
            <a:r>
              <a:rPr lang="en-US" dirty="0"/>
              <a:t>Navigate to Plugins&gt;Install</a:t>
            </a:r>
          </a:p>
          <a:p>
            <a:r>
              <a:rPr lang="en-US" dirty="0"/>
              <a:t>Then select the Auto_Label.java file</a:t>
            </a:r>
          </a:p>
        </p:txBody>
      </p:sp>
      <p:pic>
        <p:nvPicPr>
          <p:cNvPr id="5" name="Picture 4">
            <a:extLst>
              <a:ext uri="{FF2B5EF4-FFF2-40B4-BE49-F238E27FC236}">
                <a16:creationId xmlns:a16="http://schemas.microsoft.com/office/drawing/2014/main" id="{F520D369-AC7C-7C7C-769F-F810B35E7732}"/>
              </a:ext>
            </a:extLst>
          </p:cNvPr>
          <p:cNvPicPr>
            <a:picLocks noChangeAspect="1"/>
          </p:cNvPicPr>
          <p:nvPr/>
        </p:nvPicPr>
        <p:blipFill>
          <a:blip r:embed="rId2"/>
          <a:srcRect b="946"/>
          <a:stretch/>
        </p:blipFill>
        <p:spPr>
          <a:xfrm>
            <a:off x="838200" y="2897727"/>
            <a:ext cx="5139242" cy="3755922"/>
          </a:xfrm>
          <a:prstGeom prst="rect">
            <a:avLst/>
          </a:prstGeom>
        </p:spPr>
      </p:pic>
      <p:pic>
        <p:nvPicPr>
          <p:cNvPr id="7" name="Picture 6">
            <a:extLst>
              <a:ext uri="{FF2B5EF4-FFF2-40B4-BE49-F238E27FC236}">
                <a16:creationId xmlns:a16="http://schemas.microsoft.com/office/drawing/2014/main" id="{0F9265DC-C6CA-651B-3C50-8BAAB63E7691}"/>
              </a:ext>
            </a:extLst>
          </p:cNvPr>
          <p:cNvPicPr>
            <a:picLocks noChangeAspect="1"/>
          </p:cNvPicPr>
          <p:nvPr/>
        </p:nvPicPr>
        <p:blipFill>
          <a:blip r:embed="rId3"/>
          <a:stretch>
            <a:fillRect/>
          </a:stretch>
        </p:blipFill>
        <p:spPr>
          <a:xfrm>
            <a:off x="6463032" y="3202008"/>
            <a:ext cx="4989090" cy="3145830"/>
          </a:xfrm>
          <a:prstGeom prst="rect">
            <a:avLst/>
          </a:prstGeom>
        </p:spPr>
      </p:pic>
    </p:spTree>
    <p:extLst>
      <p:ext uri="{BB962C8B-B14F-4D97-AF65-F5344CB8AC3E}">
        <p14:creationId xmlns:p14="http://schemas.microsoft.com/office/powerpoint/2010/main" val="2163013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8B7B9-D49C-D12C-0A66-E4B90D93C40E}"/>
              </a:ext>
            </a:extLst>
          </p:cNvPr>
          <p:cNvSpPr>
            <a:spLocks noGrp="1"/>
          </p:cNvSpPr>
          <p:nvPr>
            <p:ph type="title"/>
          </p:nvPr>
        </p:nvSpPr>
        <p:spPr/>
        <p:txBody>
          <a:bodyPr/>
          <a:lstStyle/>
          <a:p>
            <a:r>
              <a:rPr lang="en-US" dirty="0"/>
              <a:t>Installing Plugin, Part 2</a:t>
            </a:r>
          </a:p>
        </p:txBody>
      </p:sp>
      <p:sp>
        <p:nvSpPr>
          <p:cNvPr id="3" name="Content Placeholder 2">
            <a:extLst>
              <a:ext uri="{FF2B5EF4-FFF2-40B4-BE49-F238E27FC236}">
                <a16:creationId xmlns:a16="http://schemas.microsoft.com/office/drawing/2014/main" id="{BD1A42B9-A926-2226-AEA0-67DEF6EDB149}"/>
              </a:ext>
            </a:extLst>
          </p:cNvPr>
          <p:cNvSpPr>
            <a:spLocks noGrp="1"/>
          </p:cNvSpPr>
          <p:nvPr>
            <p:ph idx="1"/>
          </p:nvPr>
        </p:nvSpPr>
        <p:spPr/>
        <p:txBody>
          <a:bodyPr/>
          <a:lstStyle/>
          <a:p>
            <a:r>
              <a:rPr lang="en-US" dirty="0"/>
              <a:t>Choose where to install the plugin. This can be wherever you like in the “plugins” folder and sub-folders.</a:t>
            </a:r>
          </a:p>
          <a:p>
            <a:pPr lvl="1"/>
            <a:r>
              <a:rPr lang="en-US" dirty="0"/>
              <a:t>For instance, if you put it in “Analyze” the plugin will show up there in the menu. Once you have saved it, it will show up as </a:t>
            </a:r>
            <a:r>
              <a:rPr lang="en-US" dirty="0" err="1"/>
              <a:t>Auto_Label.class</a:t>
            </a:r>
            <a:r>
              <a:rPr lang="en-US" dirty="0"/>
              <a:t> and Auto_Label.java.</a:t>
            </a:r>
          </a:p>
        </p:txBody>
      </p:sp>
      <p:pic>
        <p:nvPicPr>
          <p:cNvPr id="5" name="Picture 4">
            <a:extLst>
              <a:ext uri="{FF2B5EF4-FFF2-40B4-BE49-F238E27FC236}">
                <a16:creationId xmlns:a16="http://schemas.microsoft.com/office/drawing/2014/main" id="{8F733410-8F59-BB35-A56B-3C476D2AFD8E}"/>
              </a:ext>
            </a:extLst>
          </p:cNvPr>
          <p:cNvPicPr>
            <a:picLocks noChangeAspect="1"/>
          </p:cNvPicPr>
          <p:nvPr/>
        </p:nvPicPr>
        <p:blipFill>
          <a:blip r:embed="rId2"/>
          <a:stretch>
            <a:fillRect/>
          </a:stretch>
        </p:blipFill>
        <p:spPr>
          <a:xfrm>
            <a:off x="1219202" y="3859118"/>
            <a:ext cx="4267199" cy="2715012"/>
          </a:xfrm>
          <a:prstGeom prst="rect">
            <a:avLst/>
          </a:prstGeom>
        </p:spPr>
      </p:pic>
      <p:pic>
        <p:nvPicPr>
          <p:cNvPr id="7" name="Picture 6">
            <a:extLst>
              <a:ext uri="{FF2B5EF4-FFF2-40B4-BE49-F238E27FC236}">
                <a16:creationId xmlns:a16="http://schemas.microsoft.com/office/drawing/2014/main" id="{0C9F90AF-A89B-304E-4654-A5A0B6160D1F}"/>
              </a:ext>
            </a:extLst>
          </p:cNvPr>
          <p:cNvPicPr>
            <a:picLocks noChangeAspect="1"/>
          </p:cNvPicPr>
          <p:nvPr/>
        </p:nvPicPr>
        <p:blipFill>
          <a:blip r:embed="rId3"/>
          <a:stretch>
            <a:fillRect/>
          </a:stretch>
        </p:blipFill>
        <p:spPr>
          <a:xfrm>
            <a:off x="6705600" y="3866812"/>
            <a:ext cx="4267199" cy="2707318"/>
          </a:xfrm>
          <a:prstGeom prst="rect">
            <a:avLst/>
          </a:prstGeom>
        </p:spPr>
      </p:pic>
    </p:spTree>
    <p:extLst>
      <p:ext uri="{BB962C8B-B14F-4D97-AF65-F5344CB8AC3E}">
        <p14:creationId xmlns:p14="http://schemas.microsoft.com/office/powerpoint/2010/main" val="2311068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F26E1-EDCE-4273-2B1B-56FA04928CF5}"/>
              </a:ext>
            </a:extLst>
          </p:cNvPr>
          <p:cNvSpPr>
            <a:spLocks noGrp="1"/>
          </p:cNvSpPr>
          <p:nvPr>
            <p:ph type="title"/>
          </p:nvPr>
        </p:nvSpPr>
        <p:spPr/>
        <p:txBody>
          <a:bodyPr/>
          <a:lstStyle/>
          <a:p>
            <a:r>
              <a:rPr lang="en-US" dirty="0"/>
              <a:t>Installing Plugin, Part 3</a:t>
            </a:r>
          </a:p>
        </p:txBody>
      </p:sp>
      <p:sp>
        <p:nvSpPr>
          <p:cNvPr id="3" name="Content Placeholder 2">
            <a:extLst>
              <a:ext uri="{FF2B5EF4-FFF2-40B4-BE49-F238E27FC236}">
                <a16:creationId xmlns:a16="http://schemas.microsoft.com/office/drawing/2014/main" id="{09093D72-F8AE-209A-F094-E038031D51CE}"/>
              </a:ext>
            </a:extLst>
          </p:cNvPr>
          <p:cNvSpPr>
            <a:spLocks noGrp="1"/>
          </p:cNvSpPr>
          <p:nvPr>
            <p:ph idx="1"/>
          </p:nvPr>
        </p:nvSpPr>
        <p:spPr>
          <a:xfrm>
            <a:off x="838200" y="1825624"/>
            <a:ext cx="6087468" cy="4938969"/>
          </a:xfrm>
        </p:spPr>
        <p:txBody>
          <a:bodyPr>
            <a:normAutofit/>
          </a:bodyPr>
          <a:lstStyle/>
          <a:p>
            <a:r>
              <a:rPr lang="en-US" dirty="0"/>
              <a:t>Once you click save and installation start, the debug/log window will open, if it has not already.</a:t>
            </a:r>
          </a:p>
          <a:p>
            <a:r>
              <a:rPr lang="en-US" dirty="0"/>
              <a:t>This will first create a Python virtual environment and install necessary packages. This may take some time.</a:t>
            </a:r>
          </a:p>
          <a:p>
            <a:r>
              <a:rPr lang="en-US" dirty="0"/>
              <a:t>If all packages successfully install, a message will prompt saying all packages are installed. </a:t>
            </a:r>
          </a:p>
          <a:p>
            <a:pPr lvl="1"/>
            <a:r>
              <a:rPr lang="en-US" dirty="0"/>
              <a:t>This process will take much less time in the future, as all packages are now downloaded.</a:t>
            </a:r>
          </a:p>
        </p:txBody>
      </p:sp>
      <p:pic>
        <p:nvPicPr>
          <p:cNvPr id="7" name="Picture 6">
            <a:extLst>
              <a:ext uri="{FF2B5EF4-FFF2-40B4-BE49-F238E27FC236}">
                <a16:creationId xmlns:a16="http://schemas.microsoft.com/office/drawing/2014/main" id="{31B9300C-E9AC-025C-7817-F6A0AB36C220}"/>
              </a:ext>
            </a:extLst>
          </p:cNvPr>
          <p:cNvPicPr>
            <a:picLocks noChangeAspect="1"/>
          </p:cNvPicPr>
          <p:nvPr/>
        </p:nvPicPr>
        <p:blipFill>
          <a:blip r:embed="rId2"/>
          <a:stretch>
            <a:fillRect/>
          </a:stretch>
        </p:blipFill>
        <p:spPr>
          <a:xfrm>
            <a:off x="6853592" y="1253331"/>
            <a:ext cx="5268764" cy="4351338"/>
          </a:xfrm>
          <a:prstGeom prst="rect">
            <a:avLst/>
          </a:prstGeom>
        </p:spPr>
      </p:pic>
    </p:spTree>
    <p:extLst>
      <p:ext uri="{BB962C8B-B14F-4D97-AF65-F5344CB8AC3E}">
        <p14:creationId xmlns:p14="http://schemas.microsoft.com/office/powerpoint/2010/main" val="468075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F66F2-ED5A-3295-DFAB-33502757F58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20D5359-9C34-5F48-32BA-04848A6C2C08}"/>
              </a:ext>
            </a:extLst>
          </p:cNvPr>
          <p:cNvSpPr>
            <a:spLocks noGrp="1"/>
          </p:cNvSpPr>
          <p:nvPr>
            <p:ph type="title"/>
          </p:nvPr>
        </p:nvSpPr>
        <p:spPr>
          <a:xfrm>
            <a:off x="831850" y="1709738"/>
            <a:ext cx="10515600" cy="2852737"/>
          </a:xfrm>
        </p:spPr>
        <p:txBody>
          <a:bodyPr/>
          <a:lstStyle/>
          <a:p>
            <a:r>
              <a:rPr lang="en-US" dirty="0"/>
              <a:t>3. Basic Usage </a:t>
            </a:r>
          </a:p>
        </p:txBody>
      </p:sp>
    </p:spTree>
    <p:extLst>
      <p:ext uri="{BB962C8B-B14F-4D97-AF65-F5344CB8AC3E}">
        <p14:creationId xmlns:p14="http://schemas.microsoft.com/office/powerpoint/2010/main" val="43943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A94CA-EAA3-1591-CD3A-218DBF74DCDD}"/>
              </a:ext>
            </a:extLst>
          </p:cNvPr>
          <p:cNvSpPr>
            <a:spLocks noGrp="1"/>
          </p:cNvSpPr>
          <p:nvPr>
            <p:ph type="title"/>
          </p:nvPr>
        </p:nvSpPr>
        <p:spPr/>
        <p:txBody>
          <a:bodyPr/>
          <a:lstStyle/>
          <a:p>
            <a:r>
              <a:rPr lang="en-US" dirty="0"/>
              <a:t>Running Plugin, Part 1</a:t>
            </a:r>
          </a:p>
        </p:txBody>
      </p:sp>
      <p:sp>
        <p:nvSpPr>
          <p:cNvPr id="3" name="Content Placeholder 2">
            <a:extLst>
              <a:ext uri="{FF2B5EF4-FFF2-40B4-BE49-F238E27FC236}">
                <a16:creationId xmlns:a16="http://schemas.microsoft.com/office/drawing/2014/main" id="{EB89952B-8C5C-0346-193D-FA750D2288C5}"/>
              </a:ext>
            </a:extLst>
          </p:cNvPr>
          <p:cNvSpPr>
            <a:spLocks noGrp="1"/>
          </p:cNvSpPr>
          <p:nvPr>
            <p:ph idx="1"/>
          </p:nvPr>
        </p:nvSpPr>
        <p:spPr>
          <a:xfrm>
            <a:off x="838200" y="1825625"/>
            <a:ext cx="5833905" cy="4351338"/>
          </a:xfrm>
        </p:spPr>
        <p:txBody>
          <a:bodyPr>
            <a:normAutofit fontScale="92500" lnSpcReduction="10000"/>
          </a:bodyPr>
          <a:lstStyle/>
          <a:p>
            <a:r>
              <a:rPr lang="en-US" dirty="0"/>
              <a:t>The pipeline </a:t>
            </a:r>
            <a:r>
              <a:rPr lang="en-US" b="1" u="sng" dirty="0"/>
              <a:t>requires pre-processed images</a:t>
            </a:r>
            <a:r>
              <a:rPr lang="en-US" dirty="0"/>
              <a:t>, so run the processing macro and obtain images from that first.</a:t>
            </a:r>
          </a:p>
          <a:p>
            <a:r>
              <a:rPr lang="en-US" dirty="0"/>
              <a:t>Note from the last slide, a prompt popped up, saying that “There are no images open”</a:t>
            </a:r>
          </a:p>
          <a:p>
            <a:r>
              <a:rPr lang="en-US" dirty="0"/>
              <a:t>Now, </a:t>
            </a:r>
            <a:r>
              <a:rPr lang="en-US" u="sng" dirty="0"/>
              <a:t>open an image</a:t>
            </a:r>
            <a:r>
              <a:rPr lang="en-US" dirty="0"/>
              <a:t> and select the plugin. It will now be located in the plugins menu, wherever you downloaded it. </a:t>
            </a:r>
          </a:p>
          <a:p>
            <a:pPr lvl="1"/>
            <a:r>
              <a:rPr lang="en-US" dirty="0"/>
              <a:t>I downloaded it to analyze, so it is located under analyze for me.</a:t>
            </a:r>
          </a:p>
        </p:txBody>
      </p:sp>
      <p:pic>
        <p:nvPicPr>
          <p:cNvPr id="7" name="Picture 6">
            <a:extLst>
              <a:ext uri="{FF2B5EF4-FFF2-40B4-BE49-F238E27FC236}">
                <a16:creationId xmlns:a16="http://schemas.microsoft.com/office/drawing/2014/main" id="{6CB92047-5BCE-3361-734F-DE4AEBD503B0}"/>
              </a:ext>
            </a:extLst>
          </p:cNvPr>
          <p:cNvPicPr>
            <a:picLocks noChangeAspect="1"/>
          </p:cNvPicPr>
          <p:nvPr/>
        </p:nvPicPr>
        <p:blipFill>
          <a:blip r:embed="rId2"/>
          <a:stretch>
            <a:fillRect/>
          </a:stretch>
        </p:blipFill>
        <p:spPr>
          <a:xfrm>
            <a:off x="6601767" y="1825625"/>
            <a:ext cx="5353454" cy="3843864"/>
          </a:xfrm>
          <a:prstGeom prst="rect">
            <a:avLst/>
          </a:prstGeom>
        </p:spPr>
      </p:pic>
    </p:spTree>
    <p:extLst>
      <p:ext uri="{BB962C8B-B14F-4D97-AF65-F5344CB8AC3E}">
        <p14:creationId xmlns:p14="http://schemas.microsoft.com/office/powerpoint/2010/main" val="1995035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73907-08B7-1732-FA09-04A4C8A7B4A8}"/>
              </a:ext>
            </a:extLst>
          </p:cNvPr>
          <p:cNvSpPr>
            <a:spLocks noGrp="1"/>
          </p:cNvSpPr>
          <p:nvPr>
            <p:ph type="title"/>
          </p:nvPr>
        </p:nvSpPr>
        <p:spPr/>
        <p:txBody>
          <a:bodyPr/>
          <a:lstStyle/>
          <a:p>
            <a:r>
              <a:rPr lang="en-US" dirty="0"/>
              <a:t>Running Plugin, Part 2</a:t>
            </a:r>
          </a:p>
        </p:txBody>
      </p:sp>
      <p:sp>
        <p:nvSpPr>
          <p:cNvPr id="3" name="Content Placeholder 2">
            <a:extLst>
              <a:ext uri="{FF2B5EF4-FFF2-40B4-BE49-F238E27FC236}">
                <a16:creationId xmlns:a16="http://schemas.microsoft.com/office/drawing/2014/main" id="{A0F6FAE1-E0FB-3EFE-974E-8DB3210BD78E}"/>
              </a:ext>
            </a:extLst>
          </p:cNvPr>
          <p:cNvSpPr>
            <a:spLocks noGrp="1"/>
          </p:cNvSpPr>
          <p:nvPr>
            <p:ph idx="1"/>
          </p:nvPr>
        </p:nvSpPr>
        <p:spPr>
          <a:xfrm>
            <a:off x="838200" y="1825625"/>
            <a:ext cx="6290187" cy="4351338"/>
          </a:xfrm>
        </p:spPr>
        <p:txBody>
          <a:bodyPr>
            <a:normAutofit/>
          </a:bodyPr>
          <a:lstStyle/>
          <a:p>
            <a:r>
              <a:rPr lang="en-US" dirty="0"/>
              <a:t>Back in the log, there will be some output, verifying the Python environment exists. This should now run near-instantly. </a:t>
            </a:r>
          </a:p>
          <a:p>
            <a:r>
              <a:rPr lang="en-US" dirty="0"/>
              <a:t>The output will then say “Running Python script…”</a:t>
            </a:r>
          </a:p>
          <a:p>
            <a:pPr lvl="1"/>
            <a:r>
              <a:rPr lang="en-US" dirty="0"/>
              <a:t>This step will take time, especially if you have an older computer. </a:t>
            </a:r>
          </a:p>
          <a:p>
            <a:pPr lvl="1"/>
            <a:r>
              <a:rPr lang="en-US" dirty="0"/>
              <a:t>This step calls the U-Net model, creates a segmentation mask, and then post-processes the output. </a:t>
            </a:r>
          </a:p>
        </p:txBody>
      </p:sp>
      <p:pic>
        <p:nvPicPr>
          <p:cNvPr id="5" name="Picture 4">
            <a:extLst>
              <a:ext uri="{FF2B5EF4-FFF2-40B4-BE49-F238E27FC236}">
                <a16:creationId xmlns:a16="http://schemas.microsoft.com/office/drawing/2014/main" id="{D8AA4863-DD42-DD09-E7BF-1194E7CEF1F1}"/>
              </a:ext>
            </a:extLst>
          </p:cNvPr>
          <p:cNvPicPr>
            <a:picLocks noChangeAspect="1"/>
          </p:cNvPicPr>
          <p:nvPr/>
        </p:nvPicPr>
        <p:blipFill>
          <a:blip r:embed="rId2"/>
          <a:stretch>
            <a:fillRect/>
          </a:stretch>
        </p:blipFill>
        <p:spPr>
          <a:xfrm>
            <a:off x="7212616" y="1690688"/>
            <a:ext cx="4747671" cy="4031329"/>
          </a:xfrm>
          <a:prstGeom prst="rect">
            <a:avLst/>
          </a:prstGeom>
        </p:spPr>
      </p:pic>
    </p:spTree>
    <p:extLst>
      <p:ext uri="{BB962C8B-B14F-4D97-AF65-F5344CB8AC3E}">
        <p14:creationId xmlns:p14="http://schemas.microsoft.com/office/powerpoint/2010/main" val="415403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AF6F-9B4E-B7D4-16D7-2DE8DF34E390}"/>
              </a:ext>
            </a:extLst>
          </p:cNvPr>
          <p:cNvSpPr>
            <a:spLocks noGrp="1"/>
          </p:cNvSpPr>
          <p:nvPr>
            <p:ph type="title"/>
          </p:nvPr>
        </p:nvSpPr>
        <p:spPr>
          <a:xfrm>
            <a:off x="838200" y="0"/>
            <a:ext cx="10515600" cy="1325563"/>
          </a:xfrm>
        </p:spPr>
        <p:txBody>
          <a:bodyPr/>
          <a:lstStyle/>
          <a:p>
            <a:r>
              <a:rPr lang="en-US" dirty="0"/>
              <a:t>Running Plugin, Part 3</a:t>
            </a:r>
          </a:p>
        </p:txBody>
      </p:sp>
      <p:sp>
        <p:nvSpPr>
          <p:cNvPr id="3" name="Content Placeholder 2">
            <a:extLst>
              <a:ext uri="{FF2B5EF4-FFF2-40B4-BE49-F238E27FC236}">
                <a16:creationId xmlns:a16="http://schemas.microsoft.com/office/drawing/2014/main" id="{1C39A593-19BE-7036-0E51-8BC36813E604}"/>
              </a:ext>
            </a:extLst>
          </p:cNvPr>
          <p:cNvSpPr>
            <a:spLocks noGrp="1"/>
          </p:cNvSpPr>
          <p:nvPr>
            <p:ph idx="1"/>
          </p:nvPr>
        </p:nvSpPr>
        <p:spPr>
          <a:xfrm>
            <a:off x="838200" y="1030163"/>
            <a:ext cx="10515600" cy="4351338"/>
          </a:xfrm>
        </p:spPr>
        <p:txBody>
          <a:bodyPr/>
          <a:lstStyle/>
          <a:p>
            <a:r>
              <a:rPr lang="en-US" dirty="0"/>
              <a:t>After it has completed, the script will add the ROIs to the original image, rename it, and open a copy of the original image.</a:t>
            </a:r>
          </a:p>
          <a:p>
            <a:pPr lvl="1"/>
            <a:r>
              <a:rPr lang="en-US" dirty="0"/>
              <a:t>Note the names of each image. </a:t>
            </a:r>
          </a:p>
          <a:p>
            <a:endParaRPr lang="en-US" dirty="0"/>
          </a:p>
        </p:txBody>
      </p:sp>
      <p:pic>
        <p:nvPicPr>
          <p:cNvPr id="5" name="Picture 4">
            <a:extLst>
              <a:ext uri="{FF2B5EF4-FFF2-40B4-BE49-F238E27FC236}">
                <a16:creationId xmlns:a16="http://schemas.microsoft.com/office/drawing/2014/main" id="{A80C9BBB-670B-E19D-5E37-277403860830}"/>
              </a:ext>
            </a:extLst>
          </p:cNvPr>
          <p:cNvPicPr>
            <a:picLocks noChangeAspect="1"/>
          </p:cNvPicPr>
          <p:nvPr/>
        </p:nvPicPr>
        <p:blipFill>
          <a:blip r:embed="rId2"/>
          <a:stretch>
            <a:fillRect/>
          </a:stretch>
        </p:blipFill>
        <p:spPr>
          <a:xfrm>
            <a:off x="1648743" y="2193241"/>
            <a:ext cx="8894513" cy="4501006"/>
          </a:xfrm>
          <a:prstGeom prst="rect">
            <a:avLst/>
          </a:prstGeom>
        </p:spPr>
      </p:pic>
    </p:spTree>
    <p:extLst>
      <p:ext uri="{BB962C8B-B14F-4D97-AF65-F5344CB8AC3E}">
        <p14:creationId xmlns:p14="http://schemas.microsoft.com/office/powerpoint/2010/main" val="70652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A7A3F-BD30-2698-1561-F6A22D4C509D}"/>
              </a:ext>
            </a:extLst>
          </p:cNvPr>
          <p:cNvSpPr>
            <a:spLocks noGrp="1"/>
          </p:cNvSpPr>
          <p:nvPr>
            <p:ph type="title"/>
          </p:nvPr>
        </p:nvSpPr>
        <p:spPr/>
        <p:txBody>
          <a:bodyPr/>
          <a:lstStyle/>
          <a:p>
            <a:r>
              <a:rPr lang="en-US" dirty="0"/>
              <a:t>Running Plugin, Summary</a:t>
            </a:r>
          </a:p>
        </p:txBody>
      </p:sp>
      <p:sp>
        <p:nvSpPr>
          <p:cNvPr id="3" name="Content Placeholder 2">
            <a:extLst>
              <a:ext uri="{FF2B5EF4-FFF2-40B4-BE49-F238E27FC236}">
                <a16:creationId xmlns:a16="http://schemas.microsoft.com/office/drawing/2014/main" id="{EA8AD3A7-87C1-8BC9-BA6A-6BBAAFB7EF8A}"/>
              </a:ext>
            </a:extLst>
          </p:cNvPr>
          <p:cNvSpPr>
            <a:spLocks noGrp="1"/>
          </p:cNvSpPr>
          <p:nvPr>
            <p:ph idx="1"/>
          </p:nvPr>
        </p:nvSpPr>
        <p:spPr/>
        <p:txBody>
          <a:bodyPr/>
          <a:lstStyle/>
          <a:p>
            <a:r>
              <a:rPr lang="en-US" dirty="0"/>
              <a:t>Running the plugin on successive images will run it on the most recently selected image. </a:t>
            </a:r>
          </a:p>
          <a:p>
            <a:r>
              <a:rPr lang="en-US" dirty="0"/>
              <a:t>Running the plugin on successive images will continuously concatenate ROIs to the ROI Manager. </a:t>
            </a:r>
          </a:p>
          <a:p>
            <a:pPr lvl="1"/>
            <a:r>
              <a:rPr lang="en-US" dirty="0"/>
              <a:t>Take measurements and save results after each mouse (follow typical procedure).</a:t>
            </a:r>
          </a:p>
          <a:p>
            <a:r>
              <a:rPr lang="en-US" dirty="0"/>
              <a:t>The plugin </a:t>
            </a:r>
            <a:r>
              <a:rPr lang="en-US" b="1" u="sng" dirty="0"/>
              <a:t>does not alter the image, it only provides ROIs</a:t>
            </a:r>
            <a:r>
              <a:rPr lang="en-US" dirty="0"/>
              <a:t>. If you delete an ROI for a cell that has a break in the membrane, you will have to close the gap with the paint brush tool before re-selecting the ROI.</a:t>
            </a:r>
          </a:p>
        </p:txBody>
      </p:sp>
    </p:spTree>
    <p:extLst>
      <p:ext uri="{BB962C8B-B14F-4D97-AF65-F5344CB8AC3E}">
        <p14:creationId xmlns:p14="http://schemas.microsoft.com/office/powerpoint/2010/main" val="3801095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7E0B-6BA1-6846-BE01-451D182FD60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47299D7-7B19-02F2-36C8-1E439B29D673}"/>
              </a:ext>
            </a:extLst>
          </p:cNvPr>
          <p:cNvSpPr>
            <a:spLocks noGrp="1"/>
          </p:cNvSpPr>
          <p:nvPr>
            <p:ph type="title"/>
          </p:nvPr>
        </p:nvSpPr>
        <p:spPr>
          <a:xfrm>
            <a:off x="831850" y="1709738"/>
            <a:ext cx="10515600" cy="2852737"/>
          </a:xfrm>
        </p:spPr>
        <p:txBody>
          <a:bodyPr/>
          <a:lstStyle/>
          <a:p>
            <a:r>
              <a:rPr lang="en-US" dirty="0"/>
              <a:t>4. Macro Usage </a:t>
            </a:r>
          </a:p>
        </p:txBody>
      </p:sp>
    </p:spTree>
    <p:extLst>
      <p:ext uri="{BB962C8B-B14F-4D97-AF65-F5344CB8AC3E}">
        <p14:creationId xmlns:p14="http://schemas.microsoft.com/office/powerpoint/2010/main" val="173328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44986-017C-7566-3BB3-FA1B92F69DA1}"/>
              </a:ext>
            </a:extLst>
          </p:cNvPr>
          <p:cNvSpPr>
            <a:spLocks noGrp="1"/>
          </p:cNvSpPr>
          <p:nvPr>
            <p:ph type="title"/>
          </p:nvPr>
        </p:nvSpPr>
        <p:spPr/>
        <p:txBody>
          <a:bodyPr/>
          <a:lstStyle/>
          <a:p>
            <a:r>
              <a:rPr lang="en-US" dirty="0"/>
              <a:t>Macro Usage, Part 1</a:t>
            </a:r>
          </a:p>
        </p:txBody>
      </p:sp>
      <p:sp>
        <p:nvSpPr>
          <p:cNvPr id="3" name="Content Placeholder 2">
            <a:extLst>
              <a:ext uri="{FF2B5EF4-FFF2-40B4-BE49-F238E27FC236}">
                <a16:creationId xmlns:a16="http://schemas.microsoft.com/office/drawing/2014/main" id="{99C754A5-8853-1B30-B8B7-16AD86DDAF49}"/>
              </a:ext>
            </a:extLst>
          </p:cNvPr>
          <p:cNvSpPr>
            <a:spLocks noGrp="1"/>
          </p:cNvSpPr>
          <p:nvPr>
            <p:ph idx="1"/>
          </p:nvPr>
        </p:nvSpPr>
        <p:spPr>
          <a:xfrm>
            <a:off x="749710" y="1432334"/>
            <a:ext cx="10515600" cy="4351338"/>
          </a:xfrm>
        </p:spPr>
        <p:txBody>
          <a:bodyPr/>
          <a:lstStyle/>
          <a:p>
            <a:r>
              <a:rPr lang="en-US" dirty="0"/>
              <a:t>The macro simply runs the plugin on a folder of images. It uses the Plugin’s code.</a:t>
            </a:r>
          </a:p>
          <a:p>
            <a:r>
              <a:rPr lang="en-US" dirty="0"/>
              <a:t>Macro usage is quite streamlined. Go to Plugins&gt;Macros&gt;Run…</a:t>
            </a:r>
          </a:p>
          <a:p>
            <a:r>
              <a:rPr lang="en-US" dirty="0"/>
              <a:t>Navigate to where the </a:t>
            </a:r>
            <a:r>
              <a:rPr lang="en-US" dirty="0" err="1"/>
              <a:t>AutoLabelMacro.ijm</a:t>
            </a:r>
            <a:r>
              <a:rPr lang="en-US" dirty="0"/>
              <a:t> file is located</a:t>
            </a:r>
          </a:p>
        </p:txBody>
      </p:sp>
      <p:pic>
        <p:nvPicPr>
          <p:cNvPr id="5" name="Picture 4">
            <a:extLst>
              <a:ext uri="{FF2B5EF4-FFF2-40B4-BE49-F238E27FC236}">
                <a16:creationId xmlns:a16="http://schemas.microsoft.com/office/drawing/2014/main" id="{34609D3E-99F6-B9D7-2462-D298DB46E3D1}"/>
              </a:ext>
            </a:extLst>
          </p:cNvPr>
          <p:cNvPicPr>
            <a:picLocks noChangeAspect="1"/>
          </p:cNvPicPr>
          <p:nvPr/>
        </p:nvPicPr>
        <p:blipFill>
          <a:blip r:embed="rId2"/>
          <a:stretch>
            <a:fillRect/>
          </a:stretch>
        </p:blipFill>
        <p:spPr>
          <a:xfrm>
            <a:off x="566003" y="3318929"/>
            <a:ext cx="5529997" cy="3450076"/>
          </a:xfrm>
          <a:prstGeom prst="rect">
            <a:avLst/>
          </a:prstGeom>
        </p:spPr>
      </p:pic>
      <p:pic>
        <p:nvPicPr>
          <p:cNvPr id="7" name="Picture 6">
            <a:extLst>
              <a:ext uri="{FF2B5EF4-FFF2-40B4-BE49-F238E27FC236}">
                <a16:creationId xmlns:a16="http://schemas.microsoft.com/office/drawing/2014/main" id="{EE6D9D12-59C9-F492-6C7A-06D863B778A5}"/>
              </a:ext>
            </a:extLst>
          </p:cNvPr>
          <p:cNvPicPr>
            <a:picLocks noChangeAspect="1"/>
          </p:cNvPicPr>
          <p:nvPr/>
        </p:nvPicPr>
        <p:blipFill>
          <a:blip r:embed="rId3"/>
          <a:stretch>
            <a:fillRect/>
          </a:stretch>
        </p:blipFill>
        <p:spPr>
          <a:xfrm>
            <a:off x="6368197" y="3267201"/>
            <a:ext cx="5600977" cy="3553532"/>
          </a:xfrm>
          <a:prstGeom prst="rect">
            <a:avLst/>
          </a:prstGeom>
        </p:spPr>
      </p:pic>
    </p:spTree>
    <p:extLst>
      <p:ext uri="{BB962C8B-B14F-4D97-AF65-F5344CB8AC3E}">
        <p14:creationId xmlns:p14="http://schemas.microsoft.com/office/powerpoint/2010/main" val="2821568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30C6C-0B07-4F02-061F-D6ADAA158D1A}"/>
              </a:ext>
            </a:extLst>
          </p:cNvPr>
          <p:cNvSpPr>
            <a:spLocks noGrp="1"/>
          </p:cNvSpPr>
          <p:nvPr>
            <p:ph type="title"/>
          </p:nvPr>
        </p:nvSpPr>
        <p:spPr/>
        <p:txBody>
          <a:bodyPr/>
          <a:lstStyle/>
          <a:p>
            <a:r>
              <a:rPr lang="en-US" dirty="0"/>
              <a:t>Macro Usage, Part 2</a:t>
            </a:r>
          </a:p>
        </p:txBody>
      </p:sp>
      <p:sp>
        <p:nvSpPr>
          <p:cNvPr id="3" name="Content Placeholder 2">
            <a:extLst>
              <a:ext uri="{FF2B5EF4-FFF2-40B4-BE49-F238E27FC236}">
                <a16:creationId xmlns:a16="http://schemas.microsoft.com/office/drawing/2014/main" id="{EBEDC263-D8F3-E499-FA5B-F6BB9AEFD17C}"/>
              </a:ext>
            </a:extLst>
          </p:cNvPr>
          <p:cNvSpPr>
            <a:spLocks noGrp="1"/>
          </p:cNvSpPr>
          <p:nvPr>
            <p:ph idx="1"/>
          </p:nvPr>
        </p:nvSpPr>
        <p:spPr>
          <a:xfrm>
            <a:off x="0" y="2141537"/>
            <a:ext cx="10515600" cy="4351338"/>
          </a:xfrm>
        </p:spPr>
        <p:txBody>
          <a:bodyPr/>
          <a:lstStyle/>
          <a:p>
            <a:r>
              <a:rPr lang="en-US" dirty="0"/>
              <a:t>The macro will prompt you to select a folder to </a:t>
            </a:r>
            <a:br>
              <a:rPr lang="en-US" dirty="0"/>
            </a:br>
            <a:r>
              <a:rPr lang="en-US" dirty="0"/>
              <a:t>run the macro on. This will use the plugin on all </a:t>
            </a:r>
            <a:br>
              <a:rPr lang="en-US" dirty="0"/>
            </a:br>
            <a:r>
              <a:rPr lang="en-US" dirty="0"/>
              <a:t>files in the folder and save the labeled images </a:t>
            </a:r>
            <a:br>
              <a:rPr lang="en-US" dirty="0"/>
            </a:br>
            <a:r>
              <a:rPr lang="en-US" dirty="0"/>
              <a:t>and ROIs to a folder of the same name with _counted on the end. </a:t>
            </a:r>
          </a:p>
          <a:p>
            <a:pPr lvl="1"/>
            <a:r>
              <a:rPr lang="en-US" dirty="0"/>
              <a:t>Ensure all files in the folder are .</a:t>
            </a:r>
            <a:r>
              <a:rPr lang="en-US" dirty="0" err="1"/>
              <a:t>tif</a:t>
            </a:r>
            <a:r>
              <a:rPr lang="en-US" dirty="0"/>
              <a:t> or other form of image files.</a:t>
            </a:r>
          </a:p>
          <a:p>
            <a:pPr lvl="1"/>
            <a:r>
              <a:rPr lang="en-US" dirty="0"/>
              <a:t>In the image, I had already run the macro on the </a:t>
            </a:r>
            <a:r>
              <a:rPr lang="en-US" dirty="0" err="1"/>
              <a:t>original_test_inputs</a:t>
            </a:r>
            <a:r>
              <a:rPr lang="en-US" dirty="0"/>
              <a:t> folder. The script automatically created </a:t>
            </a:r>
            <a:r>
              <a:rPr lang="en-US" dirty="0" err="1"/>
              <a:t>original_test_inputs_counted</a:t>
            </a:r>
            <a:r>
              <a:rPr lang="en-US" dirty="0"/>
              <a:t>.</a:t>
            </a:r>
          </a:p>
        </p:txBody>
      </p:sp>
      <p:pic>
        <p:nvPicPr>
          <p:cNvPr id="5" name="Picture 4">
            <a:extLst>
              <a:ext uri="{FF2B5EF4-FFF2-40B4-BE49-F238E27FC236}">
                <a16:creationId xmlns:a16="http://schemas.microsoft.com/office/drawing/2014/main" id="{AD712585-1160-C03E-A0C4-313ACA8A1408}"/>
              </a:ext>
            </a:extLst>
          </p:cNvPr>
          <p:cNvPicPr>
            <a:picLocks noChangeAspect="1"/>
          </p:cNvPicPr>
          <p:nvPr/>
        </p:nvPicPr>
        <p:blipFill>
          <a:blip r:embed="rId2"/>
          <a:stretch>
            <a:fillRect/>
          </a:stretch>
        </p:blipFill>
        <p:spPr>
          <a:xfrm>
            <a:off x="7576570" y="1"/>
            <a:ext cx="4259011" cy="3073330"/>
          </a:xfrm>
          <a:prstGeom prst="rect">
            <a:avLst/>
          </a:prstGeom>
        </p:spPr>
      </p:pic>
    </p:spTree>
    <p:extLst>
      <p:ext uri="{BB962C8B-B14F-4D97-AF65-F5344CB8AC3E}">
        <p14:creationId xmlns:p14="http://schemas.microsoft.com/office/powerpoint/2010/main" val="3935247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4E72A-4FDE-7F6A-5FB7-BF15D808717B}"/>
              </a:ext>
            </a:extLst>
          </p:cNvPr>
          <p:cNvSpPr>
            <a:spLocks noGrp="1"/>
          </p:cNvSpPr>
          <p:nvPr>
            <p:ph type="title"/>
          </p:nvPr>
        </p:nvSpPr>
        <p:spPr/>
        <p:txBody>
          <a:bodyPr/>
          <a:lstStyle/>
          <a:p>
            <a:r>
              <a:rPr lang="en-US" dirty="0"/>
              <a:t>Macro Usage, Part 3</a:t>
            </a:r>
          </a:p>
        </p:txBody>
      </p:sp>
      <p:sp>
        <p:nvSpPr>
          <p:cNvPr id="3" name="Content Placeholder 2">
            <a:extLst>
              <a:ext uri="{FF2B5EF4-FFF2-40B4-BE49-F238E27FC236}">
                <a16:creationId xmlns:a16="http://schemas.microsoft.com/office/drawing/2014/main" id="{9446B640-C8C4-8DC2-77EE-C3893CD41C3A}"/>
              </a:ext>
            </a:extLst>
          </p:cNvPr>
          <p:cNvSpPr>
            <a:spLocks noGrp="1"/>
          </p:cNvSpPr>
          <p:nvPr>
            <p:ph idx="1"/>
          </p:nvPr>
        </p:nvSpPr>
        <p:spPr/>
        <p:txBody>
          <a:bodyPr/>
          <a:lstStyle/>
          <a:p>
            <a:r>
              <a:rPr lang="en-US" dirty="0"/>
              <a:t>The macro will now run the plugin on all files in the directory.</a:t>
            </a:r>
          </a:p>
          <a:p>
            <a:r>
              <a:rPr lang="en-US" dirty="0"/>
              <a:t>If an error occurs while running on an image, it will likely not write out the results to the output folder.</a:t>
            </a:r>
          </a:p>
          <a:p>
            <a:r>
              <a:rPr lang="en-US" dirty="0"/>
              <a:t>You may see the </a:t>
            </a:r>
            <a:r>
              <a:rPr lang="en-US" dirty="0" err="1"/>
              <a:t>ROIManager</a:t>
            </a:r>
            <a:r>
              <a:rPr lang="en-US" dirty="0"/>
              <a:t> flashing on your screen. This is because the </a:t>
            </a:r>
            <a:r>
              <a:rPr lang="en-US" dirty="0" err="1"/>
              <a:t>ROIManager</a:t>
            </a:r>
            <a:r>
              <a:rPr lang="en-US" dirty="0"/>
              <a:t> has to be opened in order to be used.</a:t>
            </a:r>
          </a:p>
          <a:p>
            <a:r>
              <a:rPr lang="en-US" dirty="0"/>
              <a:t>The macro will not open any images for you to see, or keep any images open after the fact. To double check it is running correctly, use Debug Mode (See slide 7 on preparing for installation).</a:t>
            </a:r>
          </a:p>
          <a:p>
            <a:endParaRPr lang="en-US" dirty="0"/>
          </a:p>
        </p:txBody>
      </p:sp>
    </p:spTree>
    <p:extLst>
      <p:ext uri="{BB962C8B-B14F-4D97-AF65-F5344CB8AC3E}">
        <p14:creationId xmlns:p14="http://schemas.microsoft.com/office/powerpoint/2010/main" val="2374875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E85F6-C836-CF2C-BD45-FCEA552C5EE0}"/>
              </a:ext>
            </a:extLst>
          </p:cNvPr>
          <p:cNvSpPr>
            <a:spLocks noGrp="1"/>
          </p:cNvSpPr>
          <p:nvPr>
            <p:ph type="title"/>
          </p:nvPr>
        </p:nvSpPr>
        <p:spPr/>
        <p:txBody>
          <a:bodyPr/>
          <a:lstStyle/>
          <a:p>
            <a:r>
              <a:rPr lang="en-US" dirty="0"/>
              <a:t>Interpreting Macro Outputs, Part 1</a:t>
            </a:r>
          </a:p>
        </p:txBody>
      </p:sp>
      <p:sp>
        <p:nvSpPr>
          <p:cNvPr id="3" name="Content Placeholder 2">
            <a:extLst>
              <a:ext uri="{FF2B5EF4-FFF2-40B4-BE49-F238E27FC236}">
                <a16:creationId xmlns:a16="http://schemas.microsoft.com/office/drawing/2014/main" id="{928F411D-1EA3-971E-407E-BF3E7FCBA2A8}"/>
              </a:ext>
            </a:extLst>
          </p:cNvPr>
          <p:cNvSpPr>
            <a:spLocks noGrp="1"/>
          </p:cNvSpPr>
          <p:nvPr>
            <p:ph idx="1"/>
          </p:nvPr>
        </p:nvSpPr>
        <p:spPr/>
        <p:txBody>
          <a:bodyPr/>
          <a:lstStyle/>
          <a:p>
            <a:r>
              <a:rPr lang="en-US" dirty="0"/>
              <a:t>Once the macro has completed, the Log window should say “Batch processing complete!”</a:t>
            </a:r>
          </a:p>
          <a:p>
            <a:pPr lvl="1"/>
            <a:r>
              <a:rPr lang="en-US" dirty="0"/>
              <a:t>Errors may still have occurred during running, ensure to look through the _counted directory to verify all files have been labeled.</a:t>
            </a:r>
          </a:p>
          <a:p>
            <a:r>
              <a:rPr lang="en-US" dirty="0"/>
              <a:t>The macro saves the image with an overlay. </a:t>
            </a:r>
            <a:br>
              <a:rPr lang="en-US" dirty="0"/>
            </a:br>
            <a:r>
              <a:rPr lang="en-US" dirty="0"/>
              <a:t>This, however, is not as easy to use with the </a:t>
            </a:r>
            <a:br>
              <a:rPr lang="en-US" dirty="0"/>
            </a:br>
            <a:r>
              <a:rPr lang="en-US" dirty="0" err="1"/>
              <a:t>ROIManager</a:t>
            </a:r>
            <a:r>
              <a:rPr lang="en-US" dirty="0"/>
              <a:t>. You will notice that there is also </a:t>
            </a:r>
            <a:br>
              <a:rPr lang="en-US" dirty="0"/>
            </a:br>
            <a:r>
              <a:rPr lang="en-US" dirty="0"/>
              <a:t>a .zip file corresponding to each labeled image.</a:t>
            </a:r>
            <a:br>
              <a:rPr lang="en-US" dirty="0"/>
            </a:br>
            <a:r>
              <a:rPr lang="en-US" dirty="0"/>
              <a:t>We will use this to load all ROI’s into the </a:t>
            </a:r>
            <a:br>
              <a:rPr lang="en-US" dirty="0"/>
            </a:br>
            <a:r>
              <a:rPr lang="en-US" dirty="0" err="1"/>
              <a:t>ROIManager</a:t>
            </a:r>
            <a:r>
              <a:rPr lang="en-US" dirty="0"/>
              <a:t>.</a:t>
            </a:r>
          </a:p>
        </p:txBody>
      </p:sp>
      <p:pic>
        <p:nvPicPr>
          <p:cNvPr id="5" name="Picture 4">
            <a:extLst>
              <a:ext uri="{FF2B5EF4-FFF2-40B4-BE49-F238E27FC236}">
                <a16:creationId xmlns:a16="http://schemas.microsoft.com/office/drawing/2014/main" id="{67F8B692-9DFB-4C85-5D6C-13A3757771DC}"/>
              </a:ext>
            </a:extLst>
          </p:cNvPr>
          <p:cNvPicPr>
            <a:picLocks noChangeAspect="1"/>
          </p:cNvPicPr>
          <p:nvPr/>
        </p:nvPicPr>
        <p:blipFill>
          <a:blip r:embed="rId2"/>
          <a:stretch>
            <a:fillRect/>
          </a:stretch>
        </p:blipFill>
        <p:spPr>
          <a:xfrm>
            <a:off x="8419846" y="3556820"/>
            <a:ext cx="2933954" cy="3181625"/>
          </a:xfrm>
          <a:prstGeom prst="rect">
            <a:avLst/>
          </a:prstGeom>
        </p:spPr>
      </p:pic>
    </p:spTree>
    <p:extLst>
      <p:ext uri="{BB962C8B-B14F-4D97-AF65-F5344CB8AC3E}">
        <p14:creationId xmlns:p14="http://schemas.microsoft.com/office/powerpoint/2010/main" val="2339919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E94C5-1908-D6E6-4179-420CE4CE17D2}"/>
              </a:ext>
            </a:extLst>
          </p:cNvPr>
          <p:cNvSpPr>
            <a:spLocks noGrp="1"/>
          </p:cNvSpPr>
          <p:nvPr>
            <p:ph type="title"/>
          </p:nvPr>
        </p:nvSpPr>
        <p:spPr/>
        <p:txBody>
          <a:bodyPr/>
          <a:lstStyle/>
          <a:p>
            <a:r>
              <a:rPr lang="en-US" dirty="0"/>
              <a:t>Interpreting Macro Outputs, Part 2</a:t>
            </a:r>
          </a:p>
        </p:txBody>
      </p:sp>
      <p:sp>
        <p:nvSpPr>
          <p:cNvPr id="3" name="Content Placeholder 2">
            <a:extLst>
              <a:ext uri="{FF2B5EF4-FFF2-40B4-BE49-F238E27FC236}">
                <a16:creationId xmlns:a16="http://schemas.microsoft.com/office/drawing/2014/main" id="{6FAD242F-4F76-39DF-4943-260A6F4508F2}"/>
              </a:ext>
            </a:extLst>
          </p:cNvPr>
          <p:cNvSpPr>
            <a:spLocks noGrp="1"/>
          </p:cNvSpPr>
          <p:nvPr>
            <p:ph idx="1"/>
          </p:nvPr>
        </p:nvSpPr>
        <p:spPr>
          <a:xfrm>
            <a:off x="838200" y="1825625"/>
            <a:ext cx="6722806" cy="4351338"/>
          </a:xfrm>
        </p:spPr>
        <p:txBody>
          <a:bodyPr/>
          <a:lstStyle/>
          <a:p>
            <a:r>
              <a:rPr lang="en-US" dirty="0"/>
              <a:t>First, open a labeled image from the _counted directory.</a:t>
            </a:r>
          </a:p>
          <a:p>
            <a:r>
              <a:rPr lang="en-US" dirty="0"/>
              <a:t>Then, open the </a:t>
            </a:r>
            <a:r>
              <a:rPr lang="en-US" dirty="0" err="1"/>
              <a:t>ROIManager</a:t>
            </a:r>
            <a:r>
              <a:rPr lang="en-US" dirty="0"/>
              <a:t>, in Analyze&gt;Tools&gt;ROI Manager</a:t>
            </a:r>
          </a:p>
          <a:p>
            <a:pPr lvl="1"/>
            <a:r>
              <a:rPr lang="en-US" dirty="0"/>
              <a:t>This opens a blank ROI Manager (seen below)</a:t>
            </a:r>
          </a:p>
        </p:txBody>
      </p:sp>
      <p:pic>
        <p:nvPicPr>
          <p:cNvPr id="5" name="Picture 4">
            <a:extLst>
              <a:ext uri="{FF2B5EF4-FFF2-40B4-BE49-F238E27FC236}">
                <a16:creationId xmlns:a16="http://schemas.microsoft.com/office/drawing/2014/main" id="{390DE779-053B-182D-F9BC-E7F38DF833BC}"/>
              </a:ext>
            </a:extLst>
          </p:cNvPr>
          <p:cNvPicPr>
            <a:picLocks noChangeAspect="1"/>
          </p:cNvPicPr>
          <p:nvPr/>
        </p:nvPicPr>
        <p:blipFill>
          <a:blip r:embed="rId2"/>
          <a:stretch>
            <a:fillRect/>
          </a:stretch>
        </p:blipFill>
        <p:spPr>
          <a:xfrm>
            <a:off x="7669035" y="1352345"/>
            <a:ext cx="4257494" cy="5140530"/>
          </a:xfrm>
          <a:prstGeom prst="rect">
            <a:avLst/>
          </a:prstGeom>
        </p:spPr>
      </p:pic>
      <p:pic>
        <p:nvPicPr>
          <p:cNvPr id="7" name="Picture 6">
            <a:extLst>
              <a:ext uri="{FF2B5EF4-FFF2-40B4-BE49-F238E27FC236}">
                <a16:creationId xmlns:a16="http://schemas.microsoft.com/office/drawing/2014/main" id="{CD86D4DF-C625-6A0F-BC69-7F5DACF2D90F}"/>
              </a:ext>
            </a:extLst>
          </p:cNvPr>
          <p:cNvPicPr>
            <a:picLocks noChangeAspect="1"/>
          </p:cNvPicPr>
          <p:nvPr/>
        </p:nvPicPr>
        <p:blipFill>
          <a:blip r:embed="rId3"/>
          <a:stretch>
            <a:fillRect/>
          </a:stretch>
        </p:blipFill>
        <p:spPr>
          <a:xfrm>
            <a:off x="3258581" y="4001294"/>
            <a:ext cx="1722269" cy="2644369"/>
          </a:xfrm>
          <a:prstGeom prst="rect">
            <a:avLst/>
          </a:prstGeom>
        </p:spPr>
      </p:pic>
    </p:spTree>
    <p:extLst>
      <p:ext uri="{BB962C8B-B14F-4D97-AF65-F5344CB8AC3E}">
        <p14:creationId xmlns:p14="http://schemas.microsoft.com/office/powerpoint/2010/main" val="205140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3E878-68FB-BA17-B510-C191E2026CAF}"/>
              </a:ext>
            </a:extLst>
          </p:cNvPr>
          <p:cNvSpPr>
            <a:spLocks noGrp="1"/>
          </p:cNvSpPr>
          <p:nvPr>
            <p:ph type="title"/>
          </p:nvPr>
        </p:nvSpPr>
        <p:spPr/>
        <p:txBody>
          <a:bodyPr/>
          <a:lstStyle/>
          <a:p>
            <a:r>
              <a:rPr lang="en-US" dirty="0"/>
              <a:t>Interpreting Macro Outputs, Part 3</a:t>
            </a:r>
          </a:p>
        </p:txBody>
      </p:sp>
      <p:sp>
        <p:nvSpPr>
          <p:cNvPr id="3" name="Content Placeholder 2">
            <a:extLst>
              <a:ext uri="{FF2B5EF4-FFF2-40B4-BE49-F238E27FC236}">
                <a16:creationId xmlns:a16="http://schemas.microsoft.com/office/drawing/2014/main" id="{4F641AAD-2D7A-D63B-D0A4-EBAC5B2E7AE1}"/>
              </a:ext>
            </a:extLst>
          </p:cNvPr>
          <p:cNvSpPr>
            <a:spLocks noGrp="1"/>
          </p:cNvSpPr>
          <p:nvPr>
            <p:ph idx="1"/>
          </p:nvPr>
        </p:nvSpPr>
        <p:spPr>
          <a:xfrm>
            <a:off x="462650" y="1481496"/>
            <a:ext cx="10515600" cy="4351338"/>
          </a:xfrm>
        </p:spPr>
        <p:txBody>
          <a:bodyPr/>
          <a:lstStyle/>
          <a:p>
            <a:r>
              <a:rPr lang="en-US" dirty="0"/>
              <a:t>Now, we will load the ROIs into the ROI Manager using the .zip file corresponding to the currently opened image.</a:t>
            </a:r>
          </a:p>
          <a:p>
            <a:r>
              <a:rPr lang="en-US" dirty="0"/>
              <a:t>Navigate to More&gt;Open in the ROI Manager (right side)</a:t>
            </a:r>
          </a:p>
          <a:p>
            <a:r>
              <a:rPr lang="en-US" dirty="0"/>
              <a:t>Then open the rois.zip file </a:t>
            </a:r>
            <a:r>
              <a:rPr lang="en-US" b="1" u="sng" dirty="0"/>
              <a:t>corresponding to</a:t>
            </a:r>
            <a:br>
              <a:rPr lang="en-US" b="1" u="sng" dirty="0"/>
            </a:br>
            <a:r>
              <a:rPr lang="en-US" b="1" u="sng" dirty="0"/>
              <a:t>the image you currently have open </a:t>
            </a:r>
            <a:r>
              <a:rPr lang="en-US" dirty="0"/>
              <a:t>(bottom)</a:t>
            </a:r>
            <a:endParaRPr lang="en-US" b="1" u="sng" dirty="0"/>
          </a:p>
          <a:p>
            <a:endParaRPr lang="en-US" dirty="0"/>
          </a:p>
        </p:txBody>
      </p:sp>
      <p:pic>
        <p:nvPicPr>
          <p:cNvPr id="5" name="Picture 4">
            <a:extLst>
              <a:ext uri="{FF2B5EF4-FFF2-40B4-BE49-F238E27FC236}">
                <a16:creationId xmlns:a16="http://schemas.microsoft.com/office/drawing/2014/main" id="{6EC5CEDE-7025-58AF-3837-5A09B278BA17}"/>
              </a:ext>
            </a:extLst>
          </p:cNvPr>
          <p:cNvPicPr>
            <a:picLocks noChangeAspect="1"/>
          </p:cNvPicPr>
          <p:nvPr/>
        </p:nvPicPr>
        <p:blipFill>
          <a:blip r:embed="rId2"/>
          <a:stretch>
            <a:fillRect/>
          </a:stretch>
        </p:blipFill>
        <p:spPr>
          <a:xfrm>
            <a:off x="10033159" y="2409671"/>
            <a:ext cx="1696191" cy="4351338"/>
          </a:xfrm>
          <a:prstGeom prst="rect">
            <a:avLst/>
          </a:prstGeom>
        </p:spPr>
      </p:pic>
      <p:pic>
        <p:nvPicPr>
          <p:cNvPr id="7" name="Picture 6">
            <a:extLst>
              <a:ext uri="{FF2B5EF4-FFF2-40B4-BE49-F238E27FC236}">
                <a16:creationId xmlns:a16="http://schemas.microsoft.com/office/drawing/2014/main" id="{76B149C4-1FF3-1DE1-D261-6AAE994FD0A7}"/>
              </a:ext>
            </a:extLst>
          </p:cNvPr>
          <p:cNvPicPr>
            <a:picLocks noChangeAspect="1"/>
          </p:cNvPicPr>
          <p:nvPr/>
        </p:nvPicPr>
        <p:blipFill>
          <a:blip r:embed="rId3"/>
          <a:stretch>
            <a:fillRect/>
          </a:stretch>
        </p:blipFill>
        <p:spPr>
          <a:xfrm>
            <a:off x="8204207" y="2925220"/>
            <a:ext cx="1722269" cy="2644369"/>
          </a:xfrm>
          <a:prstGeom prst="rect">
            <a:avLst/>
          </a:prstGeom>
        </p:spPr>
      </p:pic>
      <p:pic>
        <p:nvPicPr>
          <p:cNvPr id="11" name="Picture 10">
            <a:extLst>
              <a:ext uri="{FF2B5EF4-FFF2-40B4-BE49-F238E27FC236}">
                <a16:creationId xmlns:a16="http://schemas.microsoft.com/office/drawing/2014/main" id="{EFC991C1-B616-CBBE-1B8A-F09EE5A1C9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5947" y="3941953"/>
            <a:ext cx="4437811" cy="2819056"/>
          </a:xfrm>
          <a:prstGeom prst="rect">
            <a:avLst/>
          </a:prstGeom>
        </p:spPr>
      </p:pic>
    </p:spTree>
    <p:extLst>
      <p:ext uri="{BB962C8B-B14F-4D97-AF65-F5344CB8AC3E}">
        <p14:creationId xmlns:p14="http://schemas.microsoft.com/office/powerpoint/2010/main" val="2086000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1E0D-637B-33F3-95E6-9A970EDB3CA0}"/>
              </a:ext>
            </a:extLst>
          </p:cNvPr>
          <p:cNvSpPr>
            <a:spLocks noGrp="1"/>
          </p:cNvSpPr>
          <p:nvPr>
            <p:ph type="title"/>
          </p:nvPr>
        </p:nvSpPr>
        <p:spPr/>
        <p:txBody>
          <a:bodyPr/>
          <a:lstStyle/>
          <a:p>
            <a:r>
              <a:rPr lang="en-US" dirty="0"/>
              <a:t>Interpreting Macro Outputs, Part 4</a:t>
            </a:r>
          </a:p>
        </p:txBody>
      </p:sp>
      <p:sp>
        <p:nvSpPr>
          <p:cNvPr id="3" name="Content Placeholder 2">
            <a:extLst>
              <a:ext uri="{FF2B5EF4-FFF2-40B4-BE49-F238E27FC236}">
                <a16:creationId xmlns:a16="http://schemas.microsoft.com/office/drawing/2014/main" id="{BEB7500C-E045-C9E9-5184-29AC9DFDEB3C}"/>
              </a:ext>
            </a:extLst>
          </p:cNvPr>
          <p:cNvSpPr>
            <a:spLocks noGrp="1"/>
          </p:cNvSpPr>
          <p:nvPr>
            <p:ph idx="1"/>
          </p:nvPr>
        </p:nvSpPr>
        <p:spPr>
          <a:xfrm>
            <a:off x="838200" y="1825625"/>
            <a:ext cx="5778910" cy="4351338"/>
          </a:xfrm>
        </p:spPr>
        <p:txBody>
          <a:bodyPr>
            <a:normAutofit lnSpcReduction="10000"/>
          </a:bodyPr>
          <a:lstStyle/>
          <a:p>
            <a:r>
              <a:rPr lang="en-US" dirty="0"/>
              <a:t>Once you have loaded the ROIs, the ROIs should appear in the </a:t>
            </a:r>
            <a:r>
              <a:rPr lang="en-US" dirty="0" err="1"/>
              <a:t>ROIManager</a:t>
            </a:r>
            <a:r>
              <a:rPr lang="en-US" dirty="0"/>
              <a:t>. </a:t>
            </a:r>
          </a:p>
          <a:p>
            <a:r>
              <a:rPr lang="en-US" b="1" u="sng" dirty="0"/>
              <a:t>Select</a:t>
            </a:r>
            <a:r>
              <a:rPr lang="en-US" dirty="0"/>
              <a:t> the boxes for “Show All” and “Labels” in the bottom right of the </a:t>
            </a:r>
            <a:r>
              <a:rPr lang="en-US" dirty="0" err="1"/>
              <a:t>ROIManager</a:t>
            </a:r>
            <a:r>
              <a:rPr lang="en-US" dirty="0"/>
              <a:t>.</a:t>
            </a:r>
          </a:p>
          <a:p>
            <a:r>
              <a:rPr lang="en-US" dirty="0"/>
              <a:t>It is recommended to only label a single image at a time using this: Importing more ROIs will overlay all ROIs on one image when selecting “Show All”. </a:t>
            </a:r>
          </a:p>
        </p:txBody>
      </p:sp>
      <p:pic>
        <p:nvPicPr>
          <p:cNvPr id="5" name="Picture 4">
            <a:extLst>
              <a:ext uri="{FF2B5EF4-FFF2-40B4-BE49-F238E27FC236}">
                <a16:creationId xmlns:a16="http://schemas.microsoft.com/office/drawing/2014/main" id="{FDB18C31-FE19-7A76-5846-06B1F6143E28}"/>
              </a:ext>
            </a:extLst>
          </p:cNvPr>
          <p:cNvPicPr>
            <a:picLocks noChangeAspect="1"/>
          </p:cNvPicPr>
          <p:nvPr/>
        </p:nvPicPr>
        <p:blipFill>
          <a:blip r:embed="rId2"/>
          <a:stretch>
            <a:fillRect/>
          </a:stretch>
        </p:blipFill>
        <p:spPr>
          <a:xfrm>
            <a:off x="6691961" y="1690688"/>
            <a:ext cx="5282265" cy="4901381"/>
          </a:xfrm>
          <a:prstGeom prst="rect">
            <a:avLst/>
          </a:prstGeom>
        </p:spPr>
      </p:pic>
    </p:spTree>
    <p:extLst>
      <p:ext uri="{BB962C8B-B14F-4D97-AF65-F5344CB8AC3E}">
        <p14:creationId xmlns:p14="http://schemas.microsoft.com/office/powerpoint/2010/main" val="4236629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5386-3AA3-F8E8-FD22-7F165C5850E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CC98541-32CB-0D8C-8CDA-12C2EA485EEE}"/>
              </a:ext>
            </a:extLst>
          </p:cNvPr>
          <p:cNvSpPr>
            <a:spLocks noGrp="1"/>
          </p:cNvSpPr>
          <p:nvPr>
            <p:ph type="title"/>
          </p:nvPr>
        </p:nvSpPr>
        <p:spPr>
          <a:xfrm>
            <a:off x="831850" y="1709738"/>
            <a:ext cx="10515600" cy="2852737"/>
          </a:xfrm>
        </p:spPr>
        <p:txBody>
          <a:bodyPr/>
          <a:lstStyle/>
          <a:p>
            <a:r>
              <a:rPr lang="en-US" dirty="0"/>
              <a:t>5. Summary </a:t>
            </a:r>
          </a:p>
        </p:txBody>
      </p:sp>
    </p:spTree>
    <p:extLst>
      <p:ext uri="{BB962C8B-B14F-4D97-AF65-F5344CB8AC3E}">
        <p14:creationId xmlns:p14="http://schemas.microsoft.com/office/powerpoint/2010/main" val="3927893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20F5-5F7F-BD51-18CF-33E7CD7EF01F}"/>
              </a:ext>
            </a:extLst>
          </p:cNvPr>
          <p:cNvSpPr>
            <a:spLocks noGrp="1"/>
          </p:cNvSpPr>
          <p:nvPr>
            <p:ph type="title"/>
          </p:nvPr>
        </p:nvSpPr>
        <p:spPr/>
        <p:txBody>
          <a:bodyPr/>
          <a:lstStyle/>
          <a:p>
            <a:r>
              <a:rPr lang="en-US" dirty="0"/>
              <a:t>Important Points</a:t>
            </a:r>
          </a:p>
        </p:txBody>
      </p:sp>
      <p:sp>
        <p:nvSpPr>
          <p:cNvPr id="3" name="Content Placeholder 2">
            <a:extLst>
              <a:ext uri="{FF2B5EF4-FFF2-40B4-BE49-F238E27FC236}">
                <a16:creationId xmlns:a16="http://schemas.microsoft.com/office/drawing/2014/main" id="{2EA6ED5A-7E3E-AA1C-B9CB-D7B7F54E3CBA}"/>
              </a:ext>
            </a:extLst>
          </p:cNvPr>
          <p:cNvSpPr>
            <a:spLocks noGrp="1"/>
          </p:cNvSpPr>
          <p:nvPr>
            <p:ph idx="1"/>
          </p:nvPr>
        </p:nvSpPr>
        <p:spPr>
          <a:xfrm>
            <a:off x="838200" y="1465006"/>
            <a:ext cx="10515600" cy="5319251"/>
          </a:xfrm>
        </p:spPr>
        <p:txBody>
          <a:bodyPr>
            <a:normAutofit/>
          </a:bodyPr>
          <a:lstStyle/>
          <a:p>
            <a:r>
              <a:rPr lang="en-US" dirty="0"/>
              <a:t>The macro uses the plugin’s code, with the slight variation of saving files rather than displaying them to the user. </a:t>
            </a:r>
          </a:p>
          <a:p>
            <a:pPr lvl="1"/>
            <a:r>
              <a:rPr lang="en-US" dirty="0"/>
              <a:t>The macro saves an image with an overlay and a .zip file corresponding to each image, for use with the </a:t>
            </a:r>
            <a:r>
              <a:rPr lang="en-US" dirty="0" err="1"/>
              <a:t>ROIManager</a:t>
            </a:r>
            <a:r>
              <a:rPr lang="en-US" dirty="0"/>
              <a:t>.</a:t>
            </a:r>
          </a:p>
          <a:p>
            <a:r>
              <a:rPr lang="en-US" dirty="0"/>
              <a:t>The model/pipeline requires pre-processed images (do this using the pre-processing macro). The model/pipeline typically struggles with larger cells, so be wary of those. </a:t>
            </a:r>
            <a:r>
              <a:rPr lang="en-US" b="1" u="sng" dirty="0"/>
              <a:t>This tool is meant to assist with labeling and does not completely label images on its own.</a:t>
            </a:r>
            <a:r>
              <a:rPr lang="en-US" dirty="0"/>
              <a:t> </a:t>
            </a:r>
          </a:p>
          <a:p>
            <a:pPr lvl="1"/>
            <a:r>
              <a:rPr lang="en-US" dirty="0"/>
              <a:t>As a reminder, the pipeline does not annotate the images, it simply provides ROIs. So, if there is a break in a cell membrane, it will not change this. This is something that can be changed if wanted, where the pipeline could draw a thin black line around the perimeter of the ROI, which would close any gaps, making ROI selection and deselection slightly more streamlined.</a:t>
            </a:r>
          </a:p>
        </p:txBody>
      </p:sp>
    </p:spTree>
    <p:extLst>
      <p:ext uri="{BB962C8B-B14F-4D97-AF65-F5344CB8AC3E}">
        <p14:creationId xmlns:p14="http://schemas.microsoft.com/office/powerpoint/2010/main" val="278378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78D8F-D218-3256-EC94-FDD288F21FFA}"/>
              </a:ext>
            </a:extLst>
          </p:cNvPr>
          <p:cNvSpPr>
            <a:spLocks noGrp="1"/>
          </p:cNvSpPr>
          <p:nvPr>
            <p:ph type="title"/>
          </p:nvPr>
        </p:nvSpPr>
        <p:spPr/>
        <p:txBody>
          <a:bodyPr/>
          <a:lstStyle/>
          <a:p>
            <a:r>
              <a:rPr lang="en-US" dirty="0"/>
              <a:t>Hyperparameters</a:t>
            </a:r>
          </a:p>
        </p:txBody>
      </p:sp>
      <p:sp>
        <p:nvSpPr>
          <p:cNvPr id="3" name="Content Placeholder 2">
            <a:extLst>
              <a:ext uri="{FF2B5EF4-FFF2-40B4-BE49-F238E27FC236}">
                <a16:creationId xmlns:a16="http://schemas.microsoft.com/office/drawing/2014/main" id="{3F050948-685F-4BEF-2310-46A1A70E442F}"/>
              </a:ext>
            </a:extLst>
          </p:cNvPr>
          <p:cNvSpPr>
            <a:spLocks noGrp="1"/>
          </p:cNvSpPr>
          <p:nvPr>
            <p:ph idx="1"/>
          </p:nvPr>
        </p:nvSpPr>
        <p:spPr>
          <a:xfrm>
            <a:off x="838200" y="1825624"/>
            <a:ext cx="10515600" cy="5032375"/>
          </a:xfrm>
        </p:spPr>
        <p:txBody>
          <a:bodyPr>
            <a:normAutofit lnSpcReduction="10000"/>
          </a:bodyPr>
          <a:lstStyle/>
          <a:p>
            <a:r>
              <a:rPr lang="en-US" dirty="0"/>
              <a:t>Navigate to utils/config.py. Opening this in any text editor, you can see several hyperparameters.</a:t>
            </a:r>
          </a:p>
          <a:p>
            <a:pPr lvl="1"/>
            <a:r>
              <a:rPr lang="en-US" dirty="0"/>
              <a:t>Window size and stride are important for the</a:t>
            </a:r>
            <a:br>
              <a:rPr lang="en-US" dirty="0"/>
            </a:br>
            <a:r>
              <a:rPr lang="en-US" dirty="0"/>
              <a:t>model – the window size should not be </a:t>
            </a:r>
            <a:br>
              <a:rPr lang="en-US" dirty="0"/>
            </a:br>
            <a:r>
              <a:rPr lang="en-US" dirty="0"/>
              <a:t>changed under any circumstance. Stride can </a:t>
            </a:r>
            <a:br>
              <a:rPr lang="en-US" dirty="0"/>
            </a:br>
            <a:r>
              <a:rPr lang="en-US" dirty="0"/>
              <a:t>be increased or decreased if wanted, but it is recommended to leave it as it is. Reach out for more details on these</a:t>
            </a:r>
          </a:p>
          <a:p>
            <a:pPr lvl="1"/>
            <a:r>
              <a:rPr lang="en-US" dirty="0"/>
              <a:t>Pixel threshold is the threshold applied to each pixel in the prediction mask. I recommend leaving this at 0.25, if not lower.</a:t>
            </a:r>
          </a:p>
          <a:p>
            <a:pPr lvl="1"/>
            <a:r>
              <a:rPr lang="en-US" dirty="0"/>
              <a:t>Sphericity threshold is the minimum sphericity of cells allowed to be kept in the prediction mask. Modify this as you see fit.</a:t>
            </a:r>
          </a:p>
          <a:p>
            <a:pPr lvl="1"/>
            <a:r>
              <a:rPr lang="en-US" dirty="0"/>
              <a:t>Cell area threshold is the minimum size </a:t>
            </a:r>
            <a:r>
              <a:rPr lang="en-US" b="1" dirty="0"/>
              <a:t>pixel size</a:t>
            </a:r>
            <a:r>
              <a:rPr lang="en-US" dirty="0"/>
              <a:t> of cells in the image. Too small and pieces of noise will be labeled as cells.</a:t>
            </a:r>
          </a:p>
          <a:p>
            <a:r>
              <a:rPr lang="en-US" dirty="0"/>
              <a:t>Simply edit and save config.py to change these hyperparameters.</a:t>
            </a:r>
          </a:p>
          <a:p>
            <a:endParaRPr lang="en-US" dirty="0"/>
          </a:p>
        </p:txBody>
      </p:sp>
      <p:pic>
        <p:nvPicPr>
          <p:cNvPr id="5" name="Picture 4">
            <a:extLst>
              <a:ext uri="{FF2B5EF4-FFF2-40B4-BE49-F238E27FC236}">
                <a16:creationId xmlns:a16="http://schemas.microsoft.com/office/drawing/2014/main" id="{304985E6-B10D-7F1E-32EE-EC95222AABE8}"/>
              </a:ext>
            </a:extLst>
          </p:cNvPr>
          <p:cNvPicPr>
            <a:picLocks noChangeAspect="1"/>
          </p:cNvPicPr>
          <p:nvPr/>
        </p:nvPicPr>
        <p:blipFill>
          <a:blip r:embed="rId2"/>
          <a:srcRect b="22500"/>
          <a:stretch/>
        </p:blipFill>
        <p:spPr>
          <a:xfrm>
            <a:off x="7993089" y="2324583"/>
            <a:ext cx="3360711" cy="1104418"/>
          </a:xfrm>
          <a:prstGeom prst="rect">
            <a:avLst/>
          </a:prstGeom>
        </p:spPr>
      </p:pic>
      <p:pic>
        <p:nvPicPr>
          <p:cNvPr id="6" name="Picture 5">
            <a:extLst>
              <a:ext uri="{FF2B5EF4-FFF2-40B4-BE49-F238E27FC236}">
                <a16:creationId xmlns:a16="http://schemas.microsoft.com/office/drawing/2014/main" id="{3346EFC4-331A-33E3-37C8-8B70ACD7DC4C}"/>
              </a:ext>
            </a:extLst>
          </p:cNvPr>
          <p:cNvPicPr>
            <a:picLocks noChangeAspect="1"/>
          </p:cNvPicPr>
          <p:nvPr/>
        </p:nvPicPr>
        <p:blipFill>
          <a:blip r:embed="rId2"/>
          <a:srcRect t="89306"/>
          <a:stretch/>
        </p:blipFill>
        <p:spPr>
          <a:xfrm>
            <a:off x="7993089" y="3352800"/>
            <a:ext cx="3360711" cy="152400"/>
          </a:xfrm>
          <a:prstGeom prst="rect">
            <a:avLst/>
          </a:prstGeom>
        </p:spPr>
      </p:pic>
    </p:spTree>
    <p:extLst>
      <p:ext uri="{BB962C8B-B14F-4D97-AF65-F5344CB8AC3E}">
        <p14:creationId xmlns:p14="http://schemas.microsoft.com/office/powerpoint/2010/main" val="2890558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A6898-E1C9-8A85-93D1-B319B0DCD736}"/>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A3FFD905-A1E3-5651-F56C-4791294ACB29}"/>
              </a:ext>
            </a:extLst>
          </p:cNvPr>
          <p:cNvSpPr>
            <a:spLocks noGrp="1"/>
          </p:cNvSpPr>
          <p:nvPr>
            <p:ph idx="1"/>
          </p:nvPr>
        </p:nvSpPr>
        <p:spPr/>
        <p:txBody>
          <a:bodyPr/>
          <a:lstStyle/>
          <a:p>
            <a:r>
              <a:rPr lang="en-US" dirty="0"/>
              <a:t>Contact me at </a:t>
            </a:r>
            <a:r>
              <a:rPr lang="en-US" dirty="0">
                <a:hlinkClick r:id="rId2"/>
              </a:rPr>
              <a:t>skyler.heininger@uvm.edu</a:t>
            </a:r>
            <a:r>
              <a:rPr lang="en-US" dirty="0"/>
              <a:t> with any questions, concerns, or files.</a:t>
            </a:r>
          </a:p>
          <a:p>
            <a:endParaRPr lang="en-US" dirty="0"/>
          </a:p>
        </p:txBody>
      </p:sp>
    </p:spTree>
    <p:extLst>
      <p:ext uri="{BB962C8B-B14F-4D97-AF65-F5344CB8AC3E}">
        <p14:creationId xmlns:p14="http://schemas.microsoft.com/office/powerpoint/2010/main" val="2423405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1686</Words>
  <Application>Microsoft Office PowerPoint</Application>
  <PresentationFormat>Widescreen</PresentationFormat>
  <Paragraphs>100</Paragraphs>
  <Slides>27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Aptos Display</vt:lpstr>
      <vt:lpstr>Arial</vt:lpstr>
      <vt:lpstr>Office Theme</vt:lpstr>
      <vt:lpstr>Adipocyte Auto-Labeler</vt:lpstr>
      <vt:lpstr>1. Download </vt:lpstr>
      <vt:lpstr>Python Download</vt:lpstr>
      <vt:lpstr>Download files from GitHub</vt:lpstr>
      <vt:lpstr>Moving files</vt:lpstr>
      <vt:lpstr>2. Installation </vt:lpstr>
      <vt:lpstr>Preparing for Installation</vt:lpstr>
      <vt:lpstr>Installing Plugin</vt:lpstr>
      <vt:lpstr>Installing Plugin, Part 2</vt:lpstr>
      <vt:lpstr>Installing Plugin, Part 3</vt:lpstr>
      <vt:lpstr>3. Basic Usage </vt:lpstr>
      <vt:lpstr>Running Plugin, Part 1</vt:lpstr>
      <vt:lpstr>Running Plugin, Part 2</vt:lpstr>
      <vt:lpstr>Running Plugin, Part 3</vt:lpstr>
      <vt:lpstr>Running Plugin, Summary</vt:lpstr>
      <vt:lpstr>4. Macro Usage </vt:lpstr>
      <vt:lpstr>Macro Usage, Part 1</vt:lpstr>
      <vt:lpstr>Macro Usage, Part 2</vt:lpstr>
      <vt:lpstr>Macro Usage, Part 3</vt:lpstr>
      <vt:lpstr>Interpreting Macro Outputs, Part 1</vt:lpstr>
      <vt:lpstr>Interpreting Macro Outputs, Part 2</vt:lpstr>
      <vt:lpstr>Interpreting Macro Outputs, Part 3</vt:lpstr>
      <vt:lpstr>Interpreting Macro Outputs, Part 4</vt:lpstr>
      <vt:lpstr>5. Summary </vt:lpstr>
      <vt:lpstr>Important Points</vt:lpstr>
      <vt:lpstr>Hyperparameters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skyler heininger</dc:creator>
  <cp:lastModifiedBy>skyler heininger</cp:lastModifiedBy>
  <cp:revision>32</cp:revision>
  <dcterms:created xsi:type="dcterms:W3CDTF">2025-03-15T15:51:32Z</dcterms:created>
  <dcterms:modified xsi:type="dcterms:W3CDTF">2025-03-15T18:44:18Z</dcterms:modified>
</cp:coreProperties>
</file>